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67" r:id="rId3"/>
    <p:sldId id="323" r:id="rId4"/>
    <p:sldId id="381" r:id="rId5"/>
    <p:sldId id="382" r:id="rId6"/>
    <p:sldId id="383" r:id="rId7"/>
    <p:sldId id="377" r:id="rId8"/>
    <p:sldId id="378" r:id="rId9"/>
    <p:sldId id="318" r:id="rId10"/>
    <p:sldId id="29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anhao Liu" initials="" lastIdx="2" clrIdx="0">
    <p:extLst>
      <p:ext uri="{19B8F6BF-5375-455C-9EA6-DF929625EA0E}">
        <p15:presenceInfo xmlns:p15="http://schemas.microsoft.com/office/powerpoint/2012/main" userId="S::liuyuanhao@tp-link.com.hk::7a0ef6b1-854e-45c5-a6d1-b45d136991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394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86522" autoAdjust="0"/>
  </p:normalViewPr>
  <p:slideViewPr>
    <p:cSldViewPr snapToGrid="0">
      <p:cViewPr varScale="1">
        <p:scale>
          <a:sx n="74" d="100"/>
          <a:sy n="74" d="100"/>
        </p:scale>
        <p:origin x="102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F6803-A720-4D89-A8D4-504300509F8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DBD18-EBBF-4FBA-A8FD-2A845274E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58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2035B-7FAF-4EF6-A975-8D826441117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59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接下来我会从这六个方面对比两台设备，从工业设计开始，到硬件参数对比，软件功能，以及影像性能、音频性能，最后做一个总结。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ABCB5-9066-4D3C-BD6B-F33C14B4F44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33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工牌检测是稀疏文字场景，可参考这组数据。</a:t>
            </a:r>
            <a:r>
              <a:rPr lang="en-US" altLang="zh-CN" sz="1200" dirty="0" err="1">
                <a:latin typeface="仿宋" panose="02010609060101010101" pitchFamily="49" charset="-122"/>
                <a:ea typeface="仿宋" panose="02010609060101010101" pitchFamily="49" charset="-122"/>
              </a:rPr>
              <a:t>TesseractOCR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1200" dirty="0">
                <a:latin typeface="仿宋" panose="02010609060101010101" pitchFamily="49" charset="-122"/>
                <a:ea typeface="仿宋" panose="02010609060101010101" pitchFamily="49" charset="-122"/>
              </a:rPr>
              <a:t>尝试在 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en-US" altLang="zh-CN" sz="1200" dirty="0" err="1">
                <a:latin typeface="仿宋" panose="02010609060101010101" pitchFamily="49" charset="-122"/>
                <a:ea typeface="仿宋" panose="02010609060101010101" pitchFamily="49" charset="-122"/>
              </a:rPr>
              <a:t>psm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1200" dirty="0">
                <a:latin typeface="仿宋" panose="02010609060101010101" pitchFamily="49" charset="-122"/>
                <a:ea typeface="仿宋" panose="02010609060101010101" pitchFamily="49" charset="-122"/>
              </a:rPr>
              <a:t>和 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en-US" altLang="zh-CN" sz="1200" dirty="0" err="1">
                <a:latin typeface="仿宋" panose="02010609060101010101" pitchFamily="49" charset="-122"/>
                <a:ea typeface="仿宋" panose="02010609060101010101" pitchFamily="49" charset="-122"/>
              </a:rPr>
              <a:t>oem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1200" dirty="0">
                <a:latin typeface="仿宋" panose="02010609060101010101" pitchFamily="49" charset="-122"/>
                <a:ea typeface="仿宋" panose="02010609060101010101" pitchFamily="49" charset="-122"/>
              </a:rPr>
              <a:t>两方面调参，都不达预期，并且需要自己做预处理灰度化等等操作后，才能稍微提高效果到可用。约 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0.5 </a:t>
            </a:r>
            <a:r>
              <a:rPr lang="zh-CN" altLang="en-US" sz="1200" dirty="0">
                <a:latin typeface="仿宋" panose="02010609060101010101" pitchFamily="49" charset="-122"/>
                <a:ea typeface="仿宋" panose="02010609060101010101" pitchFamily="49" charset="-122"/>
              </a:rPr>
              <a:t>秒出图。</a:t>
            </a:r>
          </a:p>
          <a:p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1200" dirty="0" err="1">
                <a:latin typeface="仿宋" panose="02010609060101010101" pitchFamily="49" charset="-122"/>
                <a:ea typeface="仿宋" panose="02010609060101010101" pitchFamily="49" charset="-122"/>
              </a:rPr>
              <a:t>EasyOCR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1200" dirty="0">
                <a:latin typeface="仿宋" panose="02010609060101010101" pitchFamily="49" charset="-122"/>
                <a:ea typeface="仿宋" panose="02010609060101010101" pitchFamily="49" charset="-122"/>
              </a:rPr>
              <a:t>跑的很慢，在 </a:t>
            </a:r>
            <a:r>
              <a:rPr lang="en-US" altLang="zh-CN" sz="1200" dirty="0" err="1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1200" dirty="0">
                <a:latin typeface="仿宋" panose="02010609060101010101" pitchFamily="49" charset="-122"/>
                <a:ea typeface="仿宋" panose="02010609060101010101" pitchFamily="49" charset="-122"/>
              </a:rPr>
              <a:t>上十秒才能出结果。没有继续测试。</a:t>
            </a:r>
            <a:endParaRPr lang="en-US" altLang="zh-CN" sz="12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   Rapid OCR </a:t>
            </a:r>
            <a:r>
              <a:rPr lang="zh-CN" altLang="en-US" sz="1200" dirty="0">
                <a:latin typeface="仿宋" panose="02010609060101010101" pitchFamily="49" charset="-122"/>
                <a:ea typeface="仿宋" panose="02010609060101010101" pitchFamily="49" charset="-122"/>
              </a:rPr>
              <a:t>出图相当快，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0.9</a:t>
            </a:r>
            <a:r>
              <a:rPr lang="zh-CN" altLang="en-US" sz="1200" dirty="0">
                <a:latin typeface="仿宋" panose="02010609060101010101" pitchFamily="49" charset="-122"/>
                <a:ea typeface="仿宋" panose="02010609060101010101" pitchFamily="49" charset="-122"/>
              </a:rPr>
              <a:t>秒一张，并且在数据集上准确率最高，能在 </a:t>
            </a:r>
            <a:r>
              <a:rPr lang="en-US" altLang="zh-CN" sz="1200" dirty="0">
                <a:latin typeface="仿宋" panose="02010609060101010101" pitchFamily="49" charset="-122"/>
                <a:ea typeface="仿宋" panose="02010609060101010101" pitchFamily="49" charset="-122"/>
              </a:rPr>
              <a:t>120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42035B-7FAF-4EF6-A975-8D82644111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807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zh-CN" altLang="en-US" dirty="0"/>
              <a:t>完成进度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调研</a:t>
            </a:r>
            <a:r>
              <a:rPr lang="en-US" altLang="zh-CN" dirty="0"/>
              <a:t>neon [1MIN, </a:t>
            </a:r>
            <a:r>
              <a:rPr lang="zh-CN" altLang="en-US" dirty="0"/>
              <a:t>即预计讲</a:t>
            </a:r>
            <a:r>
              <a:rPr lang="en-US" altLang="zh-CN" dirty="0"/>
              <a:t>1</a:t>
            </a:r>
            <a:r>
              <a:rPr lang="zh-CN" altLang="en-US" dirty="0"/>
              <a:t>分钟</a:t>
            </a:r>
            <a:r>
              <a:rPr lang="en-US" altLang="zh-CN" dirty="0"/>
              <a:t>]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Ne10 vs neon intrinsics vs neon</a:t>
            </a:r>
            <a:r>
              <a:rPr lang="zh-CN" altLang="en-US" dirty="0"/>
              <a:t>汇编实现 ： 根据已有的对比，综合考虑代码可维护性、时间空间性能、兼容性 ，选择 </a:t>
            </a:r>
            <a:r>
              <a:rPr lang="en-US" altLang="zh-CN" dirty="0"/>
              <a:t>Ne10-FFT + Neon Intrinsics </a:t>
            </a:r>
            <a:r>
              <a:rPr lang="zh-CN" altLang="en-US" dirty="0"/>
              <a:t>实现热点函数和代码块 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float32*4 </a:t>
            </a:r>
            <a:r>
              <a:rPr lang="zh-CN" altLang="en-US" dirty="0"/>
              <a:t>的 加、减、乘、乘加、</a:t>
            </a:r>
            <a:r>
              <a:rPr lang="en-US" altLang="zh-CN" dirty="0"/>
              <a:t>load</a:t>
            </a:r>
            <a:r>
              <a:rPr lang="zh-CN" altLang="en-US" dirty="0"/>
              <a:t>、</a:t>
            </a:r>
            <a:r>
              <a:rPr lang="en-US" altLang="zh-CN" dirty="0"/>
              <a:t>store  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实现</a:t>
            </a:r>
            <a:r>
              <a:rPr lang="en-US" altLang="zh-CN" dirty="0"/>
              <a:t>neon</a:t>
            </a:r>
            <a:r>
              <a:rPr lang="zh-CN" altLang="en-US" dirty="0"/>
              <a:t>指令本地仿真运行 </a:t>
            </a:r>
            <a:r>
              <a:rPr lang="en-US" altLang="zh-CN" dirty="0"/>
              <a:t>[1MIN]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NEON2SSE.h  </a:t>
            </a:r>
          </a:p>
          <a:p>
            <a:pPr marL="1143000" lvl="2" indent="-228600">
              <a:buFont typeface="+mj-lt"/>
              <a:buAutoNum type="arabicPeriod"/>
            </a:pPr>
            <a:r>
              <a:rPr lang="zh-CN" altLang="en-US" dirty="0"/>
              <a:t>编译选项配置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代码热点摸排</a:t>
            </a:r>
            <a:r>
              <a:rPr lang="en-US" altLang="zh-CN" dirty="0"/>
              <a:t>[ 1MIN] </a:t>
            </a:r>
            <a:r>
              <a:rPr lang="zh-CN" altLang="en-US" dirty="0"/>
              <a:t>（收集结果比较慢，不一定有）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RTF </a:t>
            </a:r>
            <a:r>
              <a:rPr lang="zh-CN" altLang="en-US" dirty="0"/>
              <a:t>模块开发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完成</a:t>
            </a:r>
            <a:r>
              <a:rPr lang="en-US" altLang="zh-CN" dirty="0"/>
              <a:t>neon</a:t>
            </a:r>
            <a:r>
              <a:rPr lang="zh-CN" altLang="en-US" dirty="0"/>
              <a:t>代码开发 </a:t>
            </a:r>
            <a:r>
              <a:rPr lang="en-US" altLang="zh-CN" dirty="0"/>
              <a:t>[1MIN]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RTF </a:t>
            </a:r>
            <a:r>
              <a:rPr lang="zh-CN" altLang="en-US" dirty="0"/>
              <a:t>模块 开发进度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Ne10-FFT </a:t>
            </a:r>
            <a:r>
              <a:rPr lang="zh-CN" altLang="en-US" dirty="0"/>
              <a:t>开发进度 </a:t>
            </a:r>
          </a:p>
          <a:p>
            <a:pPr marL="1600200" lvl="3" indent="-228600">
              <a:buFont typeface="+mj-lt"/>
              <a:buAutoNum type="arabicPeriod"/>
            </a:pPr>
            <a:r>
              <a:rPr lang="en-US" altLang="zh-CN" dirty="0"/>
              <a:t>FFT </a:t>
            </a:r>
            <a:r>
              <a:rPr lang="zh-CN" altLang="en-US" dirty="0"/>
              <a:t>对齐情况（一句话略过）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Neon Intrinsics </a:t>
            </a:r>
            <a:r>
              <a:rPr lang="zh-CN" altLang="en-US" dirty="0"/>
              <a:t>开发进度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实现实机运行</a:t>
            </a:r>
            <a:r>
              <a:rPr lang="en-US" altLang="zh-CN" dirty="0"/>
              <a:t>[2MIN]</a:t>
            </a:r>
          </a:p>
          <a:p>
            <a:pPr marL="1143000" lvl="2" indent="-228600">
              <a:buFont typeface="+mj-lt"/>
              <a:buAutoNum type="arabicPeriod"/>
            </a:pPr>
            <a:r>
              <a:rPr lang="zh-CN" altLang="en-US" dirty="0"/>
              <a:t>测试条件：</a:t>
            </a:r>
            <a:r>
              <a:rPr lang="en-US" altLang="zh-CN" dirty="0"/>
              <a:t>c225v2 </a:t>
            </a:r>
            <a:r>
              <a:rPr lang="zh-CN" altLang="en-US" dirty="0"/>
              <a:t>实机</a:t>
            </a:r>
            <a:r>
              <a:rPr lang="en-US" altLang="zh-CN" dirty="0" err="1"/>
              <a:t>cpu</a:t>
            </a:r>
            <a:r>
              <a:rPr lang="en-US" altLang="zh-CN" dirty="0"/>
              <a:t> </a:t>
            </a:r>
            <a:r>
              <a:rPr lang="zh-CN" altLang="en-US" dirty="0"/>
              <a:t>， </a:t>
            </a:r>
            <a:r>
              <a:rPr lang="en-US" altLang="zh-CN" dirty="0" err="1"/>
              <a:t>cpu</a:t>
            </a:r>
            <a:r>
              <a:rPr lang="zh-CN" altLang="en-US" dirty="0"/>
              <a:t>架构为 </a:t>
            </a:r>
            <a:r>
              <a:rPr lang="en-US" altLang="zh-CN" dirty="0"/>
              <a:t>armv7</a:t>
            </a:r>
          </a:p>
          <a:p>
            <a:pPr marL="1143000" lvl="2" indent="-228600">
              <a:buFont typeface="+mj-lt"/>
              <a:buAutoNum type="arabicPeriod"/>
            </a:pPr>
            <a:r>
              <a:rPr lang="zh-CN" altLang="en-US" dirty="0"/>
              <a:t>已有的结果数据分析 （音频结果频谱图对比（体现对齐） </a:t>
            </a:r>
            <a:r>
              <a:rPr lang="en-US" altLang="zh-CN" dirty="0"/>
              <a:t>+ top</a:t>
            </a:r>
            <a:r>
              <a:rPr lang="zh-CN" altLang="en-US" dirty="0"/>
              <a:t>命令输出 </a:t>
            </a:r>
            <a:r>
              <a:rPr lang="en-US" altLang="zh-CN" dirty="0"/>
              <a:t>+ rtf </a:t>
            </a:r>
            <a:r>
              <a:rPr lang="zh-CN" altLang="en-US" dirty="0"/>
              <a:t>模块输出耗时）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42035B-7FAF-4EF6-A975-8D82644111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646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42035B-7FAF-4EF6-A975-8D826441117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585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zh-CN" altLang="en-US" dirty="0"/>
              <a:t>给一段样例，关于 </a:t>
            </a:r>
            <a:r>
              <a:rPr lang="en-US" altLang="zh-CN" dirty="0"/>
              <a:t>neon </a:t>
            </a:r>
            <a:r>
              <a:rPr lang="zh-CN" altLang="en-US" dirty="0"/>
              <a:t>转源代码的 。 或者直接放一堆截图</a:t>
            </a:r>
            <a:endParaRPr lang="en-US" altLang="zh-CN" dirty="0"/>
          </a:p>
          <a:p>
            <a:pPr>
              <a:buFont typeface="+mj-lt"/>
              <a:buAutoNum type="arabicPeriod"/>
            </a:pPr>
            <a:endParaRPr lang="en-US" altLang="zh-CN" dirty="0"/>
          </a:p>
          <a:p>
            <a:pPr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42035B-7FAF-4EF6-A975-8D82644111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55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en-US" altLang="zh-CN" dirty="0"/>
              <a:t>【</a:t>
            </a:r>
            <a:r>
              <a:rPr lang="zh-CN" altLang="en-US" dirty="0"/>
              <a:t>分</a:t>
            </a:r>
            <a:r>
              <a:rPr lang="en-US" altLang="zh-CN" dirty="0"/>
              <a:t>-</a:t>
            </a:r>
            <a:r>
              <a:rPr lang="zh-CN" altLang="en-US" dirty="0"/>
              <a:t>总</a:t>
            </a:r>
            <a:r>
              <a:rPr lang="en-US" altLang="zh-CN" dirty="0"/>
              <a:t>】  </a:t>
            </a:r>
            <a:r>
              <a:rPr lang="zh-CN" altLang="en-US" dirty="0"/>
              <a:t>分开五页讲</a:t>
            </a:r>
            <a:endParaRPr lang="en-US" altLang="zh-CN" dirty="0"/>
          </a:p>
          <a:p>
            <a:pPr>
              <a:buFont typeface="+mj-lt"/>
              <a:buAutoNum type="arabicPeriod"/>
            </a:pPr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zh-CN" altLang="en-US" dirty="0"/>
              <a:t>完成进度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调研</a:t>
            </a:r>
            <a:r>
              <a:rPr lang="en-US" altLang="zh-CN" dirty="0"/>
              <a:t>neon [1MIN, </a:t>
            </a:r>
            <a:r>
              <a:rPr lang="zh-CN" altLang="en-US" dirty="0"/>
              <a:t>即预计讲</a:t>
            </a:r>
            <a:r>
              <a:rPr lang="en-US" altLang="zh-CN" dirty="0"/>
              <a:t>1</a:t>
            </a:r>
            <a:r>
              <a:rPr lang="zh-CN" altLang="en-US" dirty="0"/>
              <a:t>分钟</a:t>
            </a:r>
            <a:r>
              <a:rPr lang="en-US" altLang="zh-CN" dirty="0"/>
              <a:t>]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Ne10 vs neon intrinsics vs neon</a:t>
            </a:r>
            <a:r>
              <a:rPr lang="zh-CN" altLang="en-US" dirty="0"/>
              <a:t>汇编实现 ： 根据已有的对比，综合考虑代码可维护性、时间空间性能、兼容性 ，选择 </a:t>
            </a:r>
            <a:r>
              <a:rPr lang="en-US" altLang="zh-CN" dirty="0"/>
              <a:t>Ne10-FFT + Neon Intrinsics </a:t>
            </a:r>
            <a:r>
              <a:rPr lang="zh-CN" altLang="en-US" dirty="0"/>
              <a:t>实现热点函数和代码块 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float32*4 </a:t>
            </a:r>
            <a:r>
              <a:rPr lang="zh-CN" altLang="en-US" dirty="0"/>
              <a:t>的 加、减、乘、乘加、</a:t>
            </a:r>
            <a:r>
              <a:rPr lang="en-US" altLang="zh-CN" dirty="0"/>
              <a:t>load</a:t>
            </a:r>
            <a:r>
              <a:rPr lang="zh-CN" altLang="en-US" dirty="0"/>
              <a:t>、</a:t>
            </a:r>
            <a:r>
              <a:rPr lang="en-US" altLang="zh-CN" dirty="0"/>
              <a:t>store  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实现</a:t>
            </a:r>
            <a:r>
              <a:rPr lang="en-US" altLang="zh-CN" dirty="0"/>
              <a:t>neon</a:t>
            </a:r>
            <a:r>
              <a:rPr lang="zh-CN" altLang="en-US" dirty="0"/>
              <a:t>指令本地仿真运行 </a:t>
            </a:r>
            <a:r>
              <a:rPr lang="en-US" altLang="zh-CN" dirty="0"/>
              <a:t>[1MIN]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NEON2SSE.h  </a:t>
            </a:r>
          </a:p>
          <a:p>
            <a:pPr marL="1143000" lvl="2" indent="-228600">
              <a:buFont typeface="+mj-lt"/>
              <a:buAutoNum type="arabicPeriod"/>
            </a:pPr>
            <a:r>
              <a:rPr lang="zh-CN" altLang="en-US" dirty="0"/>
              <a:t>编译选项配置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代码热点摸排</a:t>
            </a:r>
            <a:r>
              <a:rPr lang="en-US" altLang="zh-CN" dirty="0"/>
              <a:t>[ 1MIN] </a:t>
            </a:r>
            <a:r>
              <a:rPr lang="zh-CN" altLang="en-US" dirty="0"/>
              <a:t>（收集结果比较慢，不一定有）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RTF </a:t>
            </a:r>
            <a:r>
              <a:rPr lang="zh-CN" altLang="en-US" dirty="0"/>
              <a:t>模块开发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完成</a:t>
            </a:r>
            <a:r>
              <a:rPr lang="en-US" altLang="zh-CN" dirty="0"/>
              <a:t>neon</a:t>
            </a:r>
            <a:r>
              <a:rPr lang="zh-CN" altLang="en-US" dirty="0"/>
              <a:t>代码开发 </a:t>
            </a:r>
            <a:r>
              <a:rPr lang="en-US" altLang="zh-CN" dirty="0"/>
              <a:t>[1MIN]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RTF </a:t>
            </a:r>
            <a:r>
              <a:rPr lang="zh-CN" altLang="en-US" dirty="0"/>
              <a:t>模块 开发进度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Ne10-FFT </a:t>
            </a:r>
            <a:r>
              <a:rPr lang="zh-CN" altLang="en-US" dirty="0"/>
              <a:t>开发进度 </a:t>
            </a:r>
          </a:p>
          <a:p>
            <a:pPr marL="1600200" lvl="3" indent="-228600">
              <a:buFont typeface="+mj-lt"/>
              <a:buAutoNum type="arabicPeriod"/>
            </a:pPr>
            <a:r>
              <a:rPr lang="en-US" altLang="zh-CN" dirty="0"/>
              <a:t>FFT </a:t>
            </a:r>
            <a:r>
              <a:rPr lang="zh-CN" altLang="en-US" dirty="0"/>
              <a:t>对齐情况（一句话略过）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dirty="0"/>
              <a:t>Neon Intrinsics </a:t>
            </a:r>
            <a:r>
              <a:rPr lang="zh-CN" altLang="en-US" dirty="0"/>
              <a:t>开发进度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/>
              <a:t>实现实机运行</a:t>
            </a:r>
            <a:r>
              <a:rPr lang="en-US" altLang="zh-CN" dirty="0"/>
              <a:t>[2MIN]</a:t>
            </a:r>
          </a:p>
          <a:p>
            <a:pPr marL="1143000" lvl="2" indent="-228600">
              <a:buFont typeface="+mj-lt"/>
              <a:buAutoNum type="arabicPeriod"/>
            </a:pPr>
            <a:r>
              <a:rPr lang="zh-CN" altLang="en-US" dirty="0"/>
              <a:t>测试条件：</a:t>
            </a:r>
            <a:r>
              <a:rPr lang="en-US" altLang="zh-CN" dirty="0"/>
              <a:t>c225v2 </a:t>
            </a:r>
            <a:r>
              <a:rPr lang="zh-CN" altLang="en-US" dirty="0"/>
              <a:t>实机</a:t>
            </a:r>
            <a:r>
              <a:rPr lang="en-US" altLang="zh-CN" dirty="0" err="1"/>
              <a:t>cpu</a:t>
            </a:r>
            <a:r>
              <a:rPr lang="en-US" altLang="zh-CN" dirty="0"/>
              <a:t> </a:t>
            </a:r>
            <a:r>
              <a:rPr lang="zh-CN" altLang="en-US" dirty="0"/>
              <a:t>， </a:t>
            </a:r>
            <a:r>
              <a:rPr lang="en-US" altLang="zh-CN" dirty="0" err="1"/>
              <a:t>cpu</a:t>
            </a:r>
            <a:r>
              <a:rPr lang="zh-CN" altLang="en-US" dirty="0"/>
              <a:t>架构为 </a:t>
            </a:r>
            <a:r>
              <a:rPr lang="en-US" altLang="zh-CN" dirty="0"/>
              <a:t>armv7</a:t>
            </a:r>
          </a:p>
          <a:p>
            <a:pPr marL="1143000" lvl="2" indent="-228600">
              <a:buFont typeface="+mj-lt"/>
              <a:buAutoNum type="arabicPeriod"/>
            </a:pPr>
            <a:r>
              <a:rPr lang="zh-CN" altLang="en-US" dirty="0"/>
              <a:t>已有的结果数据分析 （音频结果频谱图对比（体现对齐） </a:t>
            </a:r>
            <a:r>
              <a:rPr lang="en-US" altLang="zh-CN" dirty="0"/>
              <a:t>+ top</a:t>
            </a:r>
            <a:r>
              <a:rPr lang="zh-CN" altLang="en-US" dirty="0"/>
              <a:t>命令输出 </a:t>
            </a:r>
            <a:r>
              <a:rPr lang="en-US" altLang="zh-CN" dirty="0"/>
              <a:t>+ rtf </a:t>
            </a:r>
            <a:r>
              <a:rPr lang="zh-CN" altLang="en-US" dirty="0"/>
              <a:t>模块输出耗时）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42035B-7FAF-4EF6-A975-8D82644111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984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42035B-7FAF-4EF6-A975-8D82644111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863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将更多热点代码 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neon 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化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除了 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neon 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还有哪些优化方法，可以在结果对齐的情况下提高运行速度？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0" i="0" dirty="0" err="1">
                <a:solidFill>
                  <a:srgbClr val="172B4D"/>
                </a:solidFill>
                <a:effectLst/>
                <a:latin typeface="-apple-system"/>
              </a:rPr>
              <a:t>vdiv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命令在 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armv7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不支持 →  考虑 求倒数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牛顿迭代法 代替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neon 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除法优化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for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循环分支开销瓶颈 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+ </a:t>
            </a:r>
            <a:r>
              <a:rPr lang="en-US" altLang="zh-CN" b="0" i="0" dirty="0" err="1">
                <a:solidFill>
                  <a:srgbClr val="172B4D"/>
                </a:solidFill>
                <a:effectLst/>
                <a:latin typeface="-apple-system"/>
              </a:rPr>
              <a:t>vld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和</a:t>
            </a:r>
            <a:r>
              <a:rPr lang="en-US" altLang="zh-CN" b="0" i="0" dirty="0" err="1">
                <a:solidFill>
                  <a:srgbClr val="172B4D"/>
                </a:solidFill>
                <a:effectLst/>
                <a:latin typeface="-apple-system"/>
              </a:rPr>
              <a:t>vst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是性能瓶颈 → 循环展开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软件流水线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b="0" i="0" dirty="0" err="1">
                <a:solidFill>
                  <a:srgbClr val="172B4D"/>
                </a:solidFill>
                <a:effectLst/>
                <a:latin typeface="-apple-system"/>
              </a:rPr>
              <a:t>vmla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命令 和 </a:t>
            </a:r>
            <a:r>
              <a:rPr lang="en-US" altLang="zh-CN" b="0" i="0" dirty="0" err="1">
                <a:solidFill>
                  <a:srgbClr val="172B4D"/>
                </a:solidFill>
                <a:effectLst/>
                <a:latin typeface="-apple-system"/>
              </a:rPr>
              <a:t>vmul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命令速度几乎相同，比 </a:t>
            </a:r>
            <a:r>
              <a:rPr lang="en-US" altLang="zh-CN" b="0" i="0" dirty="0" err="1">
                <a:solidFill>
                  <a:srgbClr val="172B4D"/>
                </a:solidFill>
                <a:effectLst/>
                <a:latin typeface="-apple-system"/>
              </a:rPr>
              <a:t>vmul+vadd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更快 → </a:t>
            </a:r>
            <a:r>
              <a:rPr lang="en-US" altLang="zh-CN" b="0" i="0" dirty="0">
                <a:solidFill>
                  <a:srgbClr val="172B4D"/>
                </a:solidFill>
                <a:effectLst/>
                <a:latin typeface="-apple-system"/>
              </a:rPr>
              <a:t>neon </a:t>
            </a:r>
            <a:r>
              <a:rPr lang="zh-CN" altLang="en-US" b="0" i="0" dirty="0">
                <a:solidFill>
                  <a:srgbClr val="172B4D"/>
                </a:solidFill>
                <a:effectLst/>
                <a:latin typeface="-apple-system"/>
              </a:rPr>
              <a:t>乘加融合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42035B-7FAF-4EF6-A975-8D82644111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843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4DF67-F979-0C79-77CB-00DD2BB64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A8DCBA-4A1E-6A3E-2473-B0EB100B2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93167E-8CCA-AA38-5EDD-ECE5F761C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259E54-E347-9810-FDE0-0A94D14D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5C4B8-D8D8-1020-1823-044C0E07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469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03112-9FA9-2E31-EDED-0A77FBB3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7F80ED-AEBF-4D8B-7B14-225889C03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4506F5-D5DC-EABB-03E0-F8143247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A9AF11-2B0A-CD47-0CB8-1824F0B8E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5D17F-DB13-D808-F016-B7221198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98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8CEB2-E066-35C1-1FE7-909B7C1C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3262BC-38BD-E82C-CB13-8EE9C0C7C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DC30DB-36C3-E197-8EC0-8C2B72BA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C7F497-229B-138B-7E56-DE7491F5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C1C48B-D231-C4A8-3A82-E43C99FE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924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7D1F9-42EC-5890-DF0D-73670FCA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77C669-F538-2E21-70BE-F68257EDC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B5A935-A75C-A5F5-746E-FA608BEE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C9F93B-2FDB-8648-4B2E-8A57A88B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198FD1-7144-4728-3B58-E51982D9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5C63EC-2532-01F3-5289-DEF6FC84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71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ADFD7-BA43-63AA-FFE6-929F80CD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2251B5-7DD9-8587-FB1F-2D1887558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DB8CD6-269D-DDE8-EFB7-619A1FBA8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72DB44-FB9C-5D64-9AC0-96A487AFB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9EBF7D-C6CA-5E08-5E7C-6C6312123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EFEB08-D373-F5C4-53FB-2BE683C0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8EE0D1-A78D-0842-BCCA-8658D526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0ADC6E-1A59-6431-3DC0-A425D9F0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985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E16F7-C6D1-EE40-3376-1BA7952C1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89F74C-FDEB-576D-DF8E-E1848F0F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6B4BE8-0FC3-5657-2973-EA519A05E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CF3787-F194-DC78-EB02-50A3A41E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72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875C1A-FCB9-33F7-983E-05528D34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0F193D-0649-3D4A-6989-EE3CE523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B84450-A7DF-F02C-7F85-814E1FF5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89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1C1A-B90D-B1C0-F4CB-3B6C0AF2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EB1277-7632-3DA7-4061-FDAAE15C5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602AC4-FEA8-EF52-3403-A808A1AF1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744F95-CAA8-1B38-1C1A-EADDEC5E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7EC193-0810-0083-5D80-CF7503E6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091D80-8E9B-05A1-00D4-4C923816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779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CA9BB-3F3B-77DD-E7D1-BFD3B3A8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8AF35F-5522-4EB6-167A-8E35D3C5F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A64BC5-8DBF-6CA0-8700-F7158A4F3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FE0DDD-1656-FC14-D5C4-C4F6F2D9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8706A7-7A29-DF94-FE42-81071888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84184B-5E6F-D88C-A18B-4A21836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91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65257-12F7-B1AD-7A35-F3BD21D9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D6B0FC-CF25-74C9-4EA6-4150EF77C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9302F9-8A3E-6B50-CDA8-6B16678F8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DB8B57-790E-CD18-39EF-169D6D1D9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450382-AD9E-2326-C4F7-CCF5FCB5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13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F65B97-E11F-81A2-D538-08826BEB1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DC5465-8194-9475-6D78-BD0296B92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5D486-37F3-2E4C-3B32-F151DD57A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B370A-CFB2-C5D7-7971-65D6FC24E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2F0302-DC9A-9A4F-B470-7C144A66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120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1"/>
          <p:cNvSpPr>
            <a:spLocks noGrp="1"/>
          </p:cNvSpPr>
          <p:nvPr>
            <p:ph type="title" hasCustomPrompt="1"/>
          </p:nvPr>
        </p:nvSpPr>
        <p:spPr>
          <a:xfrm>
            <a:off x="886517" y="2181091"/>
            <a:ext cx="5629701" cy="100693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000" b="1" i="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Edit Title</a:t>
            </a:r>
            <a:endParaRPr kumimoji="1" lang="zh-CN" alt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6517" y="3040598"/>
            <a:ext cx="2949178" cy="526040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 dirty="0"/>
              <a:t>Click 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Edit Title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932DEB-6016-509F-8D7B-3590DF5F7F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8771" y="110614"/>
            <a:ext cx="2553268" cy="118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9119709-36FB-1176-A0F9-5030D5880EC8}"/>
              </a:ext>
            </a:extLst>
          </p:cNvPr>
          <p:cNvSpPr txBox="1"/>
          <p:nvPr userDrawn="1"/>
        </p:nvSpPr>
        <p:spPr>
          <a:xfrm>
            <a:off x="904273" y="6277152"/>
            <a:ext cx="56482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altLang="zh-CN" sz="7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© 2024 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TP-LINK CORPORATION PTE. LTD., Not for distribution or reproduction.</a:t>
            </a:r>
          </a:p>
        </p:txBody>
      </p:sp>
    </p:spTree>
    <p:extLst>
      <p:ext uri="{BB962C8B-B14F-4D97-AF65-F5344CB8AC3E}">
        <p14:creationId xmlns:p14="http://schemas.microsoft.com/office/powerpoint/2010/main" val="351114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"/>
          <p:cNvSpPr/>
          <p:nvPr userDrawn="1"/>
        </p:nvSpPr>
        <p:spPr>
          <a:xfrm>
            <a:off x="6334093" y="6396856"/>
            <a:ext cx="5866355" cy="476515"/>
          </a:xfrm>
          <a:custGeom>
            <a:avLst/>
            <a:gdLst>
              <a:gd name="connsiteX0" fmla="*/ 0 w 14963586"/>
              <a:gd name="connsiteY0" fmla="*/ 285916 h 1715462"/>
              <a:gd name="connsiteX1" fmla="*/ 285916 w 14963586"/>
              <a:gd name="connsiteY1" fmla="*/ 0 h 1715462"/>
              <a:gd name="connsiteX2" fmla="*/ 14677670 w 14963586"/>
              <a:gd name="connsiteY2" fmla="*/ 0 h 1715462"/>
              <a:gd name="connsiteX3" fmla="*/ 14963586 w 14963586"/>
              <a:gd name="connsiteY3" fmla="*/ 285916 h 1715462"/>
              <a:gd name="connsiteX4" fmla="*/ 14963586 w 14963586"/>
              <a:gd name="connsiteY4" fmla="*/ 1429546 h 1715462"/>
              <a:gd name="connsiteX5" fmla="*/ 14677670 w 14963586"/>
              <a:gd name="connsiteY5" fmla="*/ 1715462 h 1715462"/>
              <a:gd name="connsiteX6" fmla="*/ 285916 w 14963586"/>
              <a:gd name="connsiteY6" fmla="*/ 1715462 h 1715462"/>
              <a:gd name="connsiteX7" fmla="*/ 0 w 14963586"/>
              <a:gd name="connsiteY7" fmla="*/ 1429546 h 1715462"/>
              <a:gd name="connsiteX8" fmla="*/ 0 w 14963586"/>
              <a:gd name="connsiteY8" fmla="*/ 285916 h 1715462"/>
              <a:gd name="connsiteX0" fmla="*/ 0 w 14963586"/>
              <a:gd name="connsiteY0" fmla="*/ 285916 h 1715462"/>
              <a:gd name="connsiteX1" fmla="*/ 285916 w 14963586"/>
              <a:gd name="connsiteY1" fmla="*/ 0 h 1715462"/>
              <a:gd name="connsiteX2" fmla="*/ 6588747 w 14963586"/>
              <a:gd name="connsiteY2" fmla="*/ 0 h 1715462"/>
              <a:gd name="connsiteX3" fmla="*/ 14963586 w 14963586"/>
              <a:gd name="connsiteY3" fmla="*/ 285916 h 1715462"/>
              <a:gd name="connsiteX4" fmla="*/ 14963586 w 14963586"/>
              <a:gd name="connsiteY4" fmla="*/ 1429546 h 1715462"/>
              <a:gd name="connsiteX5" fmla="*/ 14677670 w 14963586"/>
              <a:gd name="connsiteY5" fmla="*/ 1715462 h 1715462"/>
              <a:gd name="connsiteX6" fmla="*/ 285916 w 14963586"/>
              <a:gd name="connsiteY6" fmla="*/ 1715462 h 1715462"/>
              <a:gd name="connsiteX7" fmla="*/ 0 w 14963586"/>
              <a:gd name="connsiteY7" fmla="*/ 1429546 h 1715462"/>
              <a:gd name="connsiteX8" fmla="*/ 0 w 14963586"/>
              <a:gd name="connsiteY8" fmla="*/ 285916 h 1715462"/>
              <a:gd name="connsiteX0" fmla="*/ 0 w 14963586"/>
              <a:gd name="connsiteY0" fmla="*/ 285916 h 1715462"/>
              <a:gd name="connsiteX1" fmla="*/ 285916 w 14963586"/>
              <a:gd name="connsiteY1" fmla="*/ 0 h 1715462"/>
              <a:gd name="connsiteX2" fmla="*/ 6588747 w 14963586"/>
              <a:gd name="connsiteY2" fmla="*/ 0 h 1715462"/>
              <a:gd name="connsiteX3" fmla="*/ 14963586 w 14963586"/>
              <a:gd name="connsiteY3" fmla="*/ 285916 h 1715462"/>
              <a:gd name="connsiteX4" fmla="*/ 7206817 w 14963586"/>
              <a:gd name="connsiteY4" fmla="*/ 1312315 h 1715462"/>
              <a:gd name="connsiteX5" fmla="*/ 14677670 w 14963586"/>
              <a:gd name="connsiteY5" fmla="*/ 1715462 h 1715462"/>
              <a:gd name="connsiteX6" fmla="*/ 285916 w 14963586"/>
              <a:gd name="connsiteY6" fmla="*/ 1715462 h 1715462"/>
              <a:gd name="connsiteX7" fmla="*/ 0 w 14963586"/>
              <a:gd name="connsiteY7" fmla="*/ 1429546 h 1715462"/>
              <a:gd name="connsiteX8" fmla="*/ 0 w 14963586"/>
              <a:gd name="connsiteY8" fmla="*/ 285916 h 1715462"/>
              <a:gd name="connsiteX0" fmla="*/ 0 w 14963586"/>
              <a:gd name="connsiteY0" fmla="*/ 285916 h 1715462"/>
              <a:gd name="connsiteX1" fmla="*/ 285916 w 14963586"/>
              <a:gd name="connsiteY1" fmla="*/ 0 h 1715462"/>
              <a:gd name="connsiteX2" fmla="*/ 6588747 w 14963586"/>
              <a:gd name="connsiteY2" fmla="*/ 0 h 1715462"/>
              <a:gd name="connsiteX3" fmla="*/ 14963586 w 14963586"/>
              <a:gd name="connsiteY3" fmla="*/ 285916 h 1715462"/>
              <a:gd name="connsiteX4" fmla="*/ 14677670 w 14963586"/>
              <a:gd name="connsiteY4" fmla="*/ 1715462 h 1715462"/>
              <a:gd name="connsiteX5" fmla="*/ 285916 w 14963586"/>
              <a:gd name="connsiteY5" fmla="*/ 1715462 h 1715462"/>
              <a:gd name="connsiteX6" fmla="*/ 0 w 14963586"/>
              <a:gd name="connsiteY6" fmla="*/ 1429546 h 1715462"/>
              <a:gd name="connsiteX7" fmla="*/ 0 w 14963586"/>
              <a:gd name="connsiteY7" fmla="*/ 285916 h 1715462"/>
              <a:gd name="connsiteX0" fmla="*/ 0 w 14787939"/>
              <a:gd name="connsiteY0" fmla="*/ 285916 h 1715462"/>
              <a:gd name="connsiteX1" fmla="*/ 285916 w 14787939"/>
              <a:gd name="connsiteY1" fmla="*/ 0 h 1715462"/>
              <a:gd name="connsiteX2" fmla="*/ 6588747 w 14787939"/>
              <a:gd name="connsiteY2" fmla="*/ 0 h 1715462"/>
              <a:gd name="connsiteX3" fmla="*/ 14677670 w 14787939"/>
              <a:gd name="connsiteY3" fmla="*/ 1715462 h 1715462"/>
              <a:gd name="connsiteX4" fmla="*/ 285916 w 14787939"/>
              <a:gd name="connsiteY4" fmla="*/ 1715462 h 1715462"/>
              <a:gd name="connsiteX5" fmla="*/ 0 w 14787939"/>
              <a:gd name="connsiteY5" fmla="*/ 1429546 h 1715462"/>
              <a:gd name="connsiteX6" fmla="*/ 0 w 14787939"/>
              <a:gd name="connsiteY6" fmla="*/ 285916 h 1715462"/>
              <a:gd name="connsiteX0" fmla="*/ 0 w 14787939"/>
              <a:gd name="connsiteY0" fmla="*/ 285916 h 1715462"/>
              <a:gd name="connsiteX1" fmla="*/ 285916 w 14787939"/>
              <a:gd name="connsiteY1" fmla="*/ 0 h 1715462"/>
              <a:gd name="connsiteX2" fmla="*/ 6588747 w 14787939"/>
              <a:gd name="connsiteY2" fmla="*/ 0 h 1715462"/>
              <a:gd name="connsiteX3" fmla="*/ 14677670 w 14787939"/>
              <a:gd name="connsiteY3" fmla="*/ 1715462 h 1715462"/>
              <a:gd name="connsiteX4" fmla="*/ 0 w 14787939"/>
              <a:gd name="connsiteY4" fmla="*/ 1429546 h 1715462"/>
              <a:gd name="connsiteX5" fmla="*/ 0 w 14787939"/>
              <a:gd name="connsiteY5" fmla="*/ 285916 h 1715462"/>
              <a:gd name="connsiteX0" fmla="*/ 0 w 14801719"/>
              <a:gd name="connsiteY0" fmla="*/ 285916 h 1715706"/>
              <a:gd name="connsiteX1" fmla="*/ 285916 w 14801719"/>
              <a:gd name="connsiteY1" fmla="*/ 0 h 1715706"/>
              <a:gd name="connsiteX2" fmla="*/ 6588747 w 14801719"/>
              <a:gd name="connsiteY2" fmla="*/ 0 h 1715706"/>
              <a:gd name="connsiteX3" fmla="*/ 14677670 w 14801719"/>
              <a:gd name="connsiteY3" fmla="*/ 1715462 h 1715706"/>
              <a:gd name="connsiteX4" fmla="*/ 0 w 14801719"/>
              <a:gd name="connsiteY4" fmla="*/ 1429546 h 1715706"/>
              <a:gd name="connsiteX5" fmla="*/ 0 w 14801719"/>
              <a:gd name="connsiteY5" fmla="*/ 285916 h 1715706"/>
              <a:gd name="connsiteX0" fmla="*/ 0 w 7624135"/>
              <a:gd name="connsiteY0" fmla="*/ 285916 h 1520359"/>
              <a:gd name="connsiteX1" fmla="*/ 285916 w 7624135"/>
              <a:gd name="connsiteY1" fmla="*/ 0 h 1520359"/>
              <a:gd name="connsiteX2" fmla="*/ 6588747 w 7624135"/>
              <a:gd name="connsiteY2" fmla="*/ 0 h 1520359"/>
              <a:gd name="connsiteX3" fmla="*/ 5494593 w 7624135"/>
              <a:gd name="connsiteY3" fmla="*/ 1520077 h 1520359"/>
              <a:gd name="connsiteX4" fmla="*/ 0 w 7624135"/>
              <a:gd name="connsiteY4" fmla="*/ 1429546 h 1520359"/>
              <a:gd name="connsiteX5" fmla="*/ 0 w 7624135"/>
              <a:gd name="connsiteY5" fmla="*/ 285916 h 1520359"/>
              <a:gd name="connsiteX0" fmla="*/ 0 w 6588747"/>
              <a:gd name="connsiteY0" fmla="*/ 285916 h 1520525"/>
              <a:gd name="connsiteX1" fmla="*/ 285916 w 6588747"/>
              <a:gd name="connsiteY1" fmla="*/ 0 h 1520525"/>
              <a:gd name="connsiteX2" fmla="*/ 6588747 w 6588747"/>
              <a:gd name="connsiteY2" fmla="*/ 0 h 1520525"/>
              <a:gd name="connsiteX3" fmla="*/ 5494593 w 6588747"/>
              <a:gd name="connsiteY3" fmla="*/ 1520077 h 1520525"/>
              <a:gd name="connsiteX4" fmla="*/ 0 w 6588747"/>
              <a:gd name="connsiteY4" fmla="*/ 1429546 h 1520525"/>
              <a:gd name="connsiteX5" fmla="*/ 0 w 6588747"/>
              <a:gd name="connsiteY5" fmla="*/ 285916 h 1520525"/>
              <a:gd name="connsiteX0" fmla="*/ 0 w 6588747"/>
              <a:gd name="connsiteY0" fmla="*/ 285916 h 1520077"/>
              <a:gd name="connsiteX1" fmla="*/ 285916 w 6588747"/>
              <a:gd name="connsiteY1" fmla="*/ 0 h 1520077"/>
              <a:gd name="connsiteX2" fmla="*/ 6588747 w 6588747"/>
              <a:gd name="connsiteY2" fmla="*/ 0 h 1520077"/>
              <a:gd name="connsiteX3" fmla="*/ 5494593 w 6588747"/>
              <a:gd name="connsiteY3" fmla="*/ 1520077 h 1520077"/>
              <a:gd name="connsiteX4" fmla="*/ 0 w 6588747"/>
              <a:gd name="connsiteY4" fmla="*/ 1429546 h 1520077"/>
              <a:gd name="connsiteX5" fmla="*/ 0 w 6588747"/>
              <a:gd name="connsiteY5" fmla="*/ 285916 h 1520077"/>
              <a:gd name="connsiteX0" fmla="*/ 0 w 5494593"/>
              <a:gd name="connsiteY0" fmla="*/ 285916 h 1520077"/>
              <a:gd name="connsiteX1" fmla="*/ 285916 w 5494593"/>
              <a:gd name="connsiteY1" fmla="*/ 0 h 1520077"/>
              <a:gd name="connsiteX2" fmla="*/ 5400027 w 5494593"/>
              <a:gd name="connsiteY2" fmla="*/ 10160 h 1520077"/>
              <a:gd name="connsiteX3" fmla="*/ 5494593 w 5494593"/>
              <a:gd name="connsiteY3" fmla="*/ 1520077 h 1520077"/>
              <a:gd name="connsiteX4" fmla="*/ 0 w 5494593"/>
              <a:gd name="connsiteY4" fmla="*/ 1429546 h 1520077"/>
              <a:gd name="connsiteX5" fmla="*/ 0 w 5494593"/>
              <a:gd name="connsiteY5" fmla="*/ 285916 h 1520077"/>
              <a:gd name="connsiteX0" fmla="*/ 0 w 5423473"/>
              <a:gd name="connsiteY0" fmla="*/ 285916 h 1520077"/>
              <a:gd name="connsiteX1" fmla="*/ 285916 w 5423473"/>
              <a:gd name="connsiteY1" fmla="*/ 0 h 1520077"/>
              <a:gd name="connsiteX2" fmla="*/ 5400027 w 5423473"/>
              <a:gd name="connsiteY2" fmla="*/ 10160 h 1520077"/>
              <a:gd name="connsiteX3" fmla="*/ 5423473 w 5423473"/>
              <a:gd name="connsiteY3" fmla="*/ 1520077 h 1520077"/>
              <a:gd name="connsiteX4" fmla="*/ 0 w 5423473"/>
              <a:gd name="connsiteY4" fmla="*/ 1429546 h 1520077"/>
              <a:gd name="connsiteX5" fmla="*/ 0 w 5423473"/>
              <a:gd name="connsiteY5" fmla="*/ 285916 h 1520077"/>
              <a:gd name="connsiteX0" fmla="*/ 0 w 5423473"/>
              <a:gd name="connsiteY0" fmla="*/ 285916 h 1429546"/>
              <a:gd name="connsiteX1" fmla="*/ 285916 w 5423473"/>
              <a:gd name="connsiteY1" fmla="*/ 0 h 1429546"/>
              <a:gd name="connsiteX2" fmla="*/ 5400027 w 5423473"/>
              <a:gd name="connsiteY2" fmla="*/ 10160 h 1429546"/>
              <a:gd name="connsiteX3" fmla="*/ 5423473 w 5423473"/>
              <a:gd name="connsiteY3" fmla="*/ 778397 h 1429546"/>
              <a:gd name="connsiteX4" fmla="*/ 0 w 5423473"/>
              <a:gd name="connsiteY4" fmla="*/ 1429546 h 1429546"/>
              <a:gd name="connsiteX5" fmla="*/ 0 w 5423473"/>
              <a:gd name="connsiteY5" fmla="*/ 285916 h 1429546"/>
              <a:gd name="connsiteX0" fmla="*/ 0 w 5423473"/>
              <a:gd name="connsiteY0" fmla="*/ 285916 h 778397"/>
              <a:gd name="connsiteX1" fmla="*/ 285916 w 5423473"/>
              <a:gd name="connsiteY1" fmla="*/ 0 h 778397"/>
              <a:gd name="connsiteX2" fmla="*/ 5400027 w 5423473"/>
              <a:gd name="connsiteY2" fmla="*/ 10160 h 778397"/>
              <a:gd name="connsiteX3" fmla="*/ 5423473 w 5423473"/>
              <a:gd name="connsiteY3" fmla="*/ 778397 h 778397"/>
              <a:gd name="connsiteX4" fmla="*/ 10160 w 5423473"/>
              <a:gd name="connsiteY4" fmla="*/ 616746 h 778397"/>
              <a:gd name="connsiteX5" fmla="*/ 0 w 5423473"/>
              <a:gd name="connsiteY5" fmla="*/ 285916 h 778397"/>
              <a:gd name="connsiteX0" fmla="*/ 0 w 5413313"/>
              <a:gd name="connsiteY0" fmla="*/ 285916 h 616746"/>
              <a:gd name="connsiteX1" fmla="*/ 285916 w 5413313"/>
              <a:gd name="connsiteY1" fmla="*/ 0 h 616746"/>
              <a:gd name="connsiteX2" fmla="*/ 5400027 w 5413313"/>
              <a:gd name="connsiteY2" fmla="*/ 10160 h 616746"/>
              <a:gd name="connsiteX3" fmla="*/ 5413313 w 5413313"/>
              <a:gd name="connsiteY3" fmla="*/ 605677 h 616746"/>
              <a:gd name="connsiteX4" fmla="*/ 10160 w 5413313"/>
              <a:gd name="connsiteY4" fmla="*/ 616746 h 616746"/>
              <a:gd name="connsiteX5" fmla="*/ 0 w 5413313"/>
              <a:gd name="connsiteY5" fmla="*/ 285916 h 616746"/>
              <a:gd name="connsiteX0" fmla="*/ 0 w 5413313"/>
              <a:gd name="connsiteY0" fmla="*/ 285916 h 616746"/>
              <a:gd name="connsiteX1" fmla="*/ 285916 w 5413313"/>
              <a:gd name="connsiteY1" fmla="*/ 0 h 616746"/>
              <a:gd name="connsiteX2" fmla="*/ 5400027 w 5413313"/>
              <a:gd name="connsiteY2" fmla="*/ 10160 h 616746"/>
              <a:gd name="connsiteX3" fmla="*/ 5413313 w 5413313"/>
              <a:gd name="connsiteY3" fmla="*/ 605677 h 616746"/>
              <a:gd name="connsiteX4" fmla="*/ 10160 w 5413313"/>
              <a:gd name="connsiteY4" fmla="*/ 616746 h 616746"/>
              <a:gd name="connsiteX5" fmla="*/ 0 w 5413313"/>
              <a:gd name="connsiteY5" fmla="*/ 285916 h 616746"/>
              <a:gd name="connsiteX0" fmla="*/ 0 w 5400027"/>
              <a:gd name="connsiteY0" fmla="*/ 285916 h 616746"/>
              <a:gd name="connsiteX1" fmla="*/ 285916 w 5400027"/>
              <a:gd name="connsiteY1" fmla="*/ 0 h 616746"/>
              <a:gd name="connsiteX2" fmla="*/ 5400027 w 5400027"/>
              <a:gd name="connsiteY2" fmla="*/ 10160 h 616746"/>
              <a:gd name="connsiteX3" fmla="*/ 5388733 w 5400027"/>
              <a:gd name="connsiteY3" fmla="*/ 605677 h 616746"/>
              <a:gd name="connsiteX4" fmla="*/ 10160 w 5400027"/>
              <a:gd name="connsiteY4" fmla="*/ 616746 h 616746"/>
              <a:gd name="connsiteX5" fmla="*/ 0 w 5400027"/>
              <a:gd name="connsiteY5" fmla="*/ 285916 h 616746"/>
              <a:gd name="connsiteX0" fmla="*/ 0 w 5388733"/>
              <a:gd name="connsiteY0" fmla="*/ 292143 h 622973"/>
              <a:gd name="connsiteX1" fmla="*/ 285916 w 5388733"/>
              <a:gd name="connsiteY1" fmla="*/ 6227 h 622973"/>
              <a:gd name="connsiteX2" fmla="*/ 5383640 w 5388733"/>
              <a:gd name="connsiteY2" fmla="*/ 0 h 622973"/>
              <a:gd name="connsiteX3" fmla="*/ 5388733 w 5388733"/>
              <a:gd name="connsiteY3" fmla="*/ 611904 h 622973"/>
              <a:gd name="connsiteX4" fmla="*/ 10160 w 5388733"/>
              <a:gd name="connsiteY4" fmla="*/ 622973 h 622973"/>
              <a:gd name="connsiteX5" fmla="*/ 0 w 5388733"/>
              <a:gd name="connsiteY5" fmla="*/ 292143 h 622973"/>
              <a:gd name="connsiteX0" fmla="*/ 0 w 5388733"/>
              <a:gd name="connsiteY0" fmla="*/ 292143 h 622973"/>
              <a:gd name="connsiteX1" fmla="*/ 285916 w 5388733"/>
              <a:gd name="connsiteY1" fmla="*/ 6227 h 622973"/>
              <a:gd name="connsiteX2" fmla="*/ 5383640 w 5388733"/>
              <a:gd name="connsiteY2" fmla="*/ 0 h 622973"/>
              <a:gd name="connsiteX3" fmla="*/ 5388733 w 5388733"/>
              <a:gd name="connsiteY3" fmla="*/ 611904 h 622973"/>
              <a:gd name="connsiteX4" fmla="*/ 10160 w 5388733"/>
              <a:gd name="connsiteY4" fmla="*/ 622973 h 622973"/>
              <a:gd name="connsiteX5" fmla="*/ 0 w 5388733"/>
              <a:gd name="connsiteY5" fmla="*/ 292143 h 622973"/>
              <a:gd name="connsiteX0" fmla="*/ 932 w 5389665"/>
              <a:gd name="connsiteY0" fmla="*/ 292143 h 622973"/>
              <a:gd name="connsiteX1" fmla="*/ 286848 w 5389665"/>
              <a:gd name="connsiteY1" fmla="*/ 6227 h 622973"/>
              <a:gd name="connsiteX2" fmla="*/ 5384572 w 5389665"/>
              <a:gd name="connsiteY2" fmla="*/ 0 h 622973"/>
              <a:gd name="connsiteX3" fmla="*/ 5389665 w 5389665"/>
              <a:gd name="connsiteY3" fmla="*/ 611904 h 622973"/>
              <a:gd name="connsiteX4" fmla="*/ 0 w 5389665"/>
              <a:gd name="connsiteY4" fmla="*/ 622973 h 622973"/>
              <a:gd name="connsiteX5" fmla="*/ 932 w 5389665"/>
              <a:gd name="connsiteY5" fmla="*/ 292143 h 622973"/>
              <a:gd name="connsiteX0" fmla="*/ 932 w 5389665"/>
              <a:gd name="connsiteY0" fmla="*/ 292143 h 611904"/>
              <a:gd name="connsiteX1" fmla="*/ 286848 w 5389665"/>
              <a:gd name="connsiteY1" fmla="*/ 6227 h 611904"/>
              <a:gd name="connsiteX2" fmla="*/ 5384572 w 5389665"/>
              <a:gd name="connsiteY2" fmla="*/ 0 h 611904"/>
              <a:gd name="connsiteX3" fmla="*/ 5389665 w 5389665"/>
              <a:gd name="connsiteY3" fmla="*/ 611904 h 611904"/>
              <a:gd name="connsiteX4" fmla="*/ 0 w 5389665"/>
              <a:gd name="connsiteY4" fmla="*/ 611881 h 611904"/>
              <a:gd name="connsiteX5" fmla="*/ 932 w 5389665"/>
              <a:gd name="connsiteY5" fmla="*/ 292143 h 611904"/>
              <a:gd name="connsiteX0" fmla="*/ 932 w 5389665"/>
              <a:gd name="connsiteY0" fmla="*/ 292143 h 611881"/>
              <a:gd name="connsiteX1" fmla="*/ 286848 w 5389665"/>
              <a:gd name="connsiteY1" fmla="*/ 6227 h 611881"/>
              <a:gd name="connsiteX2" fmla="*/ 5384572 w 5389665"/>
              <a:gd name="connsiteY2" fmla="*/ 0 h 611881"/>
              <a:gd name="connsiteX3" fmla="*/ 5389665 w 5389665"/>
              <a:gd name="connsiteY3" fmla="*/ 545355 h 611881"/>
              <a:gd name="connsiteX4" fmla="*/ 0 w 5389665"/>
              <a:gd name="connsiteY4" fmla="*/ 611881 h 611881"/>
              <a:gd name="connsiteX5" fmla="*/ 932 w 5389665"/>
              <a:gd name="connsiteY5" fmla="*/ 292143 h 611881"/>
              <a:gd name="connsiteX0" fmla="*/ 932 w 5389665"/>
              <a:gd name="connsiteY0" fmla="*/ 292143 h 611881"/>
              <a:gd name="connsiteX1" fmla="*/ 286848 w 5389665"/>
              <a:gd name="connsiteY1" fmla="*/ 6227 h 611881"/>
              <a:gd name="connsiteX2" fmla="*/ 5384572 w 5389665"/>
              <a:gd name="connsiteY2" fmla="*/ 0 h 611881"/>
              <a:gd name="connsiteX3" fmla="*/ 5389665 w 5389665"/>
              <a:gd name="connsiteY3" fmla="*/ 489897 h 611881"/>
              <a:gd name="connsiteX4" fmla="*/ 0 w 5389665"/>
              <a:gd name="connsiteY4" fmla="*/ 611881 h 611881"/>
              <a:gd name="connsiteX5" fmla="*/ 932 w 5389665"/>
              <a:gd name="connsiteY5" fmla="*/ 292143 h 611881"/>
              <a:gd name="connsiteX0" fmla="*/ 932 w 5389665"/>
              <a:gd name="connsiteY0" fmla="*/ 292143 h 611881"/>
              <a:gd name="connsiteX1" fmla="*/ 286848 w 5389665"/>
              <a:gd name="connsiteY1" fmla="*/ 6227 h 611881"/>
              <a:gd name="connsiteX2" fmla="*/ 5384572 w 5389665"/>
              <a:gd name="connsiteY2" fmla="*/ 0 h 611881"/>
              <a:gd name="connsiteX3" fmla="*/ 5389665 w 5389665"/>
              <a:gd name="connsiteY3" fmla="*/ 534263 h 611881"/>
              <a:gd name="connsiteX4" fmla="*/ 0 w 5389665"/>
              <a:gd name="connsiteY4" fmla="*/ 611881 h 611881"/>
              <a:gd name="connsiteX5" fmla="*/ 932 w 5389665"/>
              <a:gd name="connsiteY5" fmla="*/ 292143 h 611881"/>
              <a:gd name="connsiteX0" fmla="*/ 932 w 5389665"/>
              <a:gd name="connsiteY0" fmla="*/ 292143 h 539787"/>
              <a:gd name="connsiteX1" fmla="*/ 286848 w 5389665"/>
              <a:gd name="connsiteY1" fmla="*/ 6227 h 539787"/>
              <a:gd name="connsiteX2" fmla="*/ 5384572 w 5389665"/>
              <a:gd name="connsiteY2" fmla="*/ 0 h 539787"/>
              <a:gd name="connsiteX3" fmla="*/ 5389665 w 5389665"/>
              <a:gd name="connsiteY3" fmla="*/ 534263 h 539787"/>
              <a:gd name="connsiteX4" fmla="*/ 0 w 5389665"/>
              <a:gd name="connsiteY4" fmla="*/ 539787 h 539787"/>
              <a:gd name="connsiteX5" fmla="*/ 932 w 5389665"/>
              <a:gd name="connsiteY5" fmla="*/ 292143 h 539787"/>
              <a:gd name="connsiteX0" fmla="*/ 932 w 5389665"/>
              <a:gd name="connsiteY0" fmla="*/ 292143 h 534263"/>
              <a:gd name="connsiteX1" fmla="*/ 286848 w 5389665"/>
              <a:gd name="connsiteY1" fmla="*/ 6227 h 534263"/>
              <a:gd name="connsiteX2" fmla="*/ 5384572 w 5389665"/>
              <a:gd name="connsiteY2" fmla="*/ 0 h 534263"/>
              <a:gd name="connsiteX3" fmla="*/ 5389665 w 5389665"/>
              <a:gd name="connsiteY3" fmla="*/ 534263 h 534263"/>
              <a:gd name="connsiteX4" fmla="*/ 0 w 5389665"/>
              <a:gd name="connsiteY4" fmla="*/ 534241 h 534263"/>
              <a:gd name="connsiteX5" fmla="*/ 932 w 5389665"/>
              <a:gd name="connsiteY5" fmla="*/ 292143 h 534263"/>
              <a:gd name="connsiteX0" fmla="*/ 932 w 5389665"/>
              <a:gd name="connsiteY0" fmla="*/ 292143 h 611233"/>
              <a:gd name="connsiteX1" fmla="*/ 286848 w 5389665"/>
              <a:gd name="connsiteY1" fmla="*/ 6227 h 611233"/>
              <a:gd name="connsiteX2" fmla="*/ 5384572 w 5389665"/>
              <a:gd name="connsiteY2" fmla="*/ 0 h 611233"/>
              <a:gd name="connsiteX3" fmla="*/ 5389665 w 5389665"/>
              <a:gd name="connsiteY3" fmla="*/ 611233 h 611233"/>
              <a:gd name="connsiteX4" fmla="*/ 0 w 5389665"/>
              <a:gd name="connsiteY4" fmla="*/ 534241 h 611233"/>
              <a:gd name="connsiteX5" fmla="*/ 932 w 5389665"/>
              <a:gd name="connsiteY5" fmla="*/ 292143 h 611233"/>
              <a:gd name="connsiteX0" fmla="*/ 932 w 5389665"/>
              <a:gd name="connsiteY0" fmla="*/ 292143 h 611233"/>
              <a:gd name="connsiteX1" fmla="*/ 286848 w 5389665"/>
              <a:gd name="connsiteY1" fmla="*/ 6227 h 611233"/>
              <a:gd name="connsiteX2" fmla="*/ 5384572 w 5389665"/>
              <a:gd name="connsiteY2" fmla="*/ 0 h 611233"/>
              <a:gd name="connsiteX3" fmla="*/ 5389665 w 5389665"/>
              <a:gd name="connsiteY3" fmla="*/ 611233 h 611233"/>
              <a:gd name="connsiteX4" fmla="*/ 0 w 5389665"/>
              <a:gd name="connsiteY4" fmla="*/ 603514 h 611233"/>
              <a:gd name="connsiteX5" fmla="*/ 932 w 5389665"/>
              <a:gd name="connsiteY5" fmla="*/ 292143 h 611233"/>
              <a:gd name="connsiteX0" fmla="*/ 932 w 5389665"/>
              <a:gd name="connsiteY0" fmla="*/ 292143 h 611233"/>
              <a:gd name="connsiteX1" fmla="*/ 286848 w 5389665"/>
              <a:gd name="connsiteY1" fmla="*/ 6227 h 611233"/>
              <a:gd name="connsiteX2" fmla="*/ 4399360 w 5389665"/>
              <a:gd name="connsiteY2" fmla="*/ 0 h 611233"/>
              <a:gd name="connsiteX3" fmla="*/ 5389665 w 5389665"/>
              <a:gd name="connsiteY3" fmla="*/ 611233 h 611233"/>
              <a:gd name="connsiteX4" fmla="*/ 0 w 5389665"/>
              <a:gd name="connsiteY4" fmla="*/ 603514 h 611233"/>
              <a:gd name="connsiteX5" fmla="*/ 932 w 5389665"/>
              <a:gd name="connsiteY5" fmla="*/ 292143 h 611233"/>
              <a:gd name="connsiteX0" fmla="*/ 932 w 4419847"/>
              <a:gd name="connsiteY0" fmla="*/ 292143 h 603536"/>
              <a:gd name="connsiteX1" fmla="*/ 286848 w 4419847"/>
              <a:gd name="connsiteY1" fmla="*/ 6227 h 603536"/>
              <a:gd name="connsiteX2" fmla="*/ 4399360 w 4419847"/>
              <a:gd name="connsiteY2" fmla="*/ 0 h 603536"/>
              <a:gd name="connsiteX3" fmla="*/ 4419847 w 4419847"/>
              <a:gd name="connsiteY3" fmla="*/ 603536 h 603536"/>
              <a:gd name="connsiteX4" fmla="*/ 0 w 4419847"/>
              <a:gd name="connsiteY4" fmla="*/ 603514 h 603536"/>
              <a:gd name="connsiteX5" fmla="*/ 932 w 4419847"/>
              <a:gd name="connsiteY5" fmla="*/ 292143 h 603536"/>
              <a:gd name="connsiteX0" fmla="*/ 932 w 4401704"/>
              <a:gd name="connsiteY0" fmla="*/ 292143 h 603536"/>
              <a:gd name="connsiteX1" fmla="*/ 286848 w 4401704"/>
              <a:gd name="connsiteY1" fmla="*/ 6227 h 603536"/>
              <a:gd name="connsiteX2" fmla="*/ 4399360 w 4401704"/>
              <a:gd name="connsiteY2" fmla="*/ 0 h 603536"/>
              <a:gd name="connsiteX3" fmla="*/ 4401704 w 4401704"/>
              <a:gd name="connsiteY3" fmla="*/ 603536 h 603536"/>
              <a:gd name="connsiteX4" fmla="*/ 0 w 4401704"/>
              <a:gd name="connsiteY4" fmla="*/ 603514 h 603536"/>
              <a:gd name="connsiteX5" fmla="*/ 932 w 4401704"/>
              <a:gd name="connsiteY5" fmla="*/ 292143 h 603536"/>
              <a:gd name="connsiteX0" fmla="*/ 932 w 4399595"/>
              <a:gd name="connsiteY0" fmla="*/ 292143 h 603514"/>
              <a:gd name="connsiteX1" fmla="*/ 286848 w 4399595"/>
              <a:gd name="connsiteY1" fmla="*/ 6227 h 603514"/>
              <a:gd name="connsiteX2" fmla="*/ 4399360 w 4399595"/>
              <a:gd name="connsiteY2" fmla="*/ 0 h 603514"/>
              <a:gd name="connsiteX3" fmla="*/ 4394649 w 4399595"/>
              <a:gd name="connsiteY3" fmla="*/ 413036 h 603514"/>
              <a:gd name="connsiteX4" fmla="*/ 0 w 4399595"/>
              <a:gd name="connsiteY4" fmla="*/ 603514 h 603514"/>
              <a:gd name="connsiteX5" fmla="*/ 932 w 4399595"/>
              <a:gd name="connsiteY5" fmla="*/ 292143 h 603514"/>
              <a:gd name="connsiteX0" fmla="*/ 932 w 4399595"/>
              <a:gd name="connsiteY0" fmla="*/ 292143 h 603514"/>
              <a:gd name="connsiteX1" fmla="*/ 286848 w 4399595"/>
              <a:gd name="connsiteY1" fmla="*/ 6227 h 603514"/>
              <a:gd name="connsiteX2" fmla="*/ 4399360 w 4399595"/>
              <a:gd name="connsiteY2" fmla="*/ 0 h 603514"/>
              <a:gd name="connsiteX3" fmla="*/ 4394649 w 4399595"/>
              <a:gd name="connsiteY3" fmla="*/ 469481 h 603514"/>
              <a:gd name="connsiteX4" fmla="*/ 0 w 4399595"/>
              <a:gd name="connsiteY4" fmla="*/ 603514 h 603514"/>
              <a:gd name="connsiteX5" fmla="*/ 932 w 4399595"/>
              <a:gd name="connsiteY5" fmla="*/ 292143 h 603514"/>
              <a:gd name="connsiteX0" fmla="*/ 7988 w 4406651"/>
              <a:gd name="connsiteY0" fmla="*/ 292143 h 476514"/>
              <a:gd name="connsiteX1" fmla="*/ 293904 w 4406651"/>
              <a:gd name="connsiteY1" fmla="*/ 6227 h 476514"/>
              <a:gd name="connsiteX2" fmla="*/ 4406416 w 4406651"/>
              <a:gd name="connsiteY2" fmla="*/ 0 h 476514"/>
              <a:gd name="connsiteX3" fmla="*/ 4401705 w 4406651"/>
              <a:gd name="connsiteY3" fmla="*/ 469481 h 476514"/>
              <a:gd name="connsiteX4" fmla="*/ 0 w 4406651"/>
              <a:gd name="connsiteY4" fmla="*/ 476514 h 476514"/>
              <a:gd name="connsiteX5" fmla="*/ 7988 w 4406651"/>
              <a:gd name="connsiteY5" fmla="*/ 292143 h 476514"/>
              <a:gd name="connsiteX0" fmla="*/ 11 w 4398674"/>
              <a:gd name="connsiteY0" fmla="*/ 292143 h 476514"/>
              <a:gd name="connsiteX1" fmla="*/ 285927 w 4398674"/>
              <a:gd name="connsiteY1" fmla="*/ 6227 h 476514"/>
              <a:gd name="connsiteX2" fmla="*/ 4398439 w 4398674"/>
              <a:gd name="connsiteY2" fmla="*/ 0 h 476514"/>
              <a:gd name="connsiteX3" fmla="*/ 4393728 w 4398674"/>
              <a:gd name="connsiteY3" fmla="*/ 469481 h 476514"/>
              <a:gd name="connsiteX4" fmla="*/ 6134 w 4398674"/>
              <a:gd name="connsiteY4" fmla="*/ 476514 h 476514"/>
              <a:gd name="connsiteX5" fmla="*/ 11 w 4398674"/>
              <a:gd name="connsiteY5" fmla="*/ 292143 h 476514"/>
              <a:gd name="connsiteX0" fmla="*/ 20 w 4398683"/>
              <a:gd name="connsiteY0" fmla="*/ 292143 h 476514"/>
              <a:gd name="connsiteX1" fmla="*/ 285936 w 4398683"/>
              <a:gd name="connsiteY1" fmla="*/ 6227 h 476514"/>
              <a:gd name="connsiteX2" fmla="*/ 4398448 w 4398683"/>
              <a:gd name="connsiteY2" fmla="*/ 0 h 476514"/>
              <a:gd name="connsiteX3" fmla="*/ 4393737 w 4398683"/>
              <a:gd name="connsiteY3" fmla="*/ 469481 h 476514"/>
              <a:gd name="connsiteX4" fmla="*/ 6143 w 4398683"/>
              <a:gd name="connsiteY4" fmla="*/ 476514 h 476514"/>
              <a:gd name="connsiteX5" fmla="*/ 20 w 4398683"/>
              <a:gd name="connsiteY5" fmla="*/ 292143 h 476514"/>
              <a:gd name="connsiteX0" fmla="*/ 1103 w 4399766"/>
              <a:gd name="connsiteY0" fmla="*/ 292143 h 476514"/>
              <a:gd name="connsiteX1" fmla="*/ 287019 w 4399766"/>
              <a:gd name="connsiteY1" fmla="*/ 6227 h 476514"/>
              <a:gd name="connsiteX2" fmla="*/ 4399531 w 4399766"/>
              <a:gd name="connsiteY2" fmla="*/ 0 h 476514"/>
              <a:gd name="connsiteX3" fmla="*/ 4394820 w 4399766"/>
              <a:gd name="connsiteY3" fmla="*/ 469481 h 476514"/>
              <a:gd name="connsiteX4" fmla="*/ 1581 w 4399766"/>
              <a:gd name="connsiteY4" fmla="*/ 476514 h 476514"/>
              <a:gd name="connsiteX5" fmla="*/ 1103 w 4399766"/>
              <a:gd name="connsiteY5" fmla="*/ 292143 h 47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9766" h="476514">
                <a:moveTo>
                  <a:pt x="1103" y="292143"/>
                </a:moveTo>
                <a:cubicBezTo>
                  <a:pt x="1103" y="134236"/>
                  <a:pt x="129112" y="6227"/>
                  <a:pt x="287019" y="6227"/>
                </a:cubicBezTo>
                <a:lnTo>
                  <a:pt x="4399531" y="0"/>
                </a:lnTo>
                <a:cubicBezTo>
                  <a:pt x="4401229" y="203968"/>
                  <a:pt x="4393122" y="265513"/>
                  <a:pt x="4394820" y="469481"/>
                </a:cubicBezTo>
                <a:lnTo>
                  <a:pt x="1581" y="476514"/>
                </a:lnTo>
                <a:cubicBezTo>
                  <a:pt x="-1481" y="384328"/>
                  <a:pt x="792" y="402420"/>
                  <a:pt x="1103" y="292143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1" name="TextBox 18"/>
          <p:cNvSpPr txBox="1"/>
          <p:nvPr userDrawn="1"/>
        </p:nvSpPr>
        <p:spPr>
          <a:xfrm>
            <a:off x="11367163" y="6513550"/>
            <a:ext cx="43047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fld id="{BBF15AE3-289C-014D-AAA6-6108CB8A5483}" type="slidenum">
              <a:rPr lang="en-US" sz="1600" baseline="30000" smtClean="0">
                <a:solidFill>
                  <a:prstClr val="black">
                    <a:lumMod val="50000"/>
                    <a:lumOff val="50000"/>
                  </a:prstClr>
                </a:solidFill>
                <a:ea typeface="ＭＳ Ｐゴシック" charset="0"/>
                <a:cs typeface="ＭＳ Ｐゴシック" charset="0"/>
              </a:rPr>
              <a:pPr/>
              <a:t>‹#›</a:t>
            </a:fld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12" name="TextBox 20"/>
          <p:cNvSpPr txBox="1"/>
          <p:nvPr userDrawn="1"/>
        </p:nvSpPr>
        <p:spPr>
          <a:xfrm>
            <a:off x="6541936" y="6552022"/>
            <a:ext cx="4746453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/>
            </a:pPr>
            <a:r>
              <a:rPr lang="en-US" sz="1400" baseline="30000" dirty="0">
                <a:solidFill>
                  <a:prstClr val="black">
                    <a:lumMod val="50000"/>
                    <a:lumOff val="50000"/>
                  </a:prstClr>
                </a:solidFill>
                <a:ea typeface="ＭＳ Ｐゴシック" charset="0"/>
                <a:cs typeface="ＭＳ Ｐゴシック" charset="0"/>
              </a:rPr>
              <a:t>© 20</a:t>
            </a:r>
            <a:r>
              <a:rPr lang="en-US" altLang="zh-CN" sz="1400" baseline="30000" dirty="0">
                <a:solidFill>
                  <a:prstClr val="black">
                    <a:lumMod val="50000"/>
                    <a:lumOff val="50000"/>
                  </a:prstClr>
                </a:solidFill>
                <a:ea typeface="ＭＳ Ｐゴシック" charset="0"/>
                <a:cs typeface="ＭＳ Ｐゴシック" charset="0"/>
              </a:rPr>
              <a:t>20</a:t>
            </a:r>
            <a:r>
              <a:rPr lang="en-US" sz="1400" baseline="30000" dirty="0">
                <a:solidFill>
                  <a:prstClr val="black">
                    <a:lumMod val="50000"/>
                    <a:lumOff val="50000"/>
                  </a:prstClr>
                </a:solidFill>
                <a:ea typeface="ＭＳ Ｐゴシック" charset="0"/>
                <a:cs typeface="ＭＳ Ｐゴシック" charset="0"/>
              </a:rPr>
              <a:t> TP-L</a:t>
            </a:r>
            <a:r>
              <a:rPr lang="en-US" altLang="zh-CN" sz="1400" baseline="30000" dirty="0">
                <a:solidFill>
                  <a:prstClr val="black">
                    <a:lumMod val="50000"/>
                    <a:lumOff val="50000"/>
                  </a:prstClr>
                </a:solidFill>
                <a:ea typeface="ＭＳ Ｐゴシック" charset="0"/>
                <a:cs typeface="ＭＳ Ｐゴシック" charset="0"/>
              </a:rPr>
              <a:t>ink</a:t>
            </a:r>
            <a:r>
              <a:rPr lang="en-US" sz="1400" baseline="30000" dirty="0">
                <a:solidFill>
                  <a:prstClr val="black">
                    <a:lumMod val="50000"/>
                    <a:lumOff val="50000"/>
                  </a:prstClr>
                </a:solidFill>
                <a:ea typeface="ＭＳ Ｐゴシック" charset="0"/>
                <a:cs typeface="ＭＳ Ｐゴシック" charset="0"/>
              </a:rPr>
              <a:t>, Inc. Confidential information. Not for distribution or reproduction</a:t>
            </a:r>
            <a:r>
              <a:rPr lang="en-US" sz="1100" baseline="30000" dirty="0">
                <a:solidFill>
                  <a:prstClr val="black">
                    <a:lumMod val="50000"/>
                    <a:lumOff val="50000"/>
                  </a:prstClr>
                </a:solidFill>
                <a:ea typeface="ＭＳ Ｐゴシック" charset="0"/>
                <a:cs typeface="ＭＳ Ｐゴシック" charset="0"/>
              </a:rPr>
              <a:t>.</a:t>
            </a:r>
            <a:endParaRPr lang="en-US" sz="1100" dirty="0">
              <a:solidFill>
                <a:prstClr val="black">
                  <a:lumMod val="50000"/>
                  <a:lumOff val="50000"/>
                </a:prstClr>
              </a:solidFill>
              <a:cs typeface="Arial"/>
            </a:endParaRPr>
          </a:p>
        </p:txBody>
      </p:sp>
      <p:pic>
        <p:nvPicPr>
          <p:cNvPr id="13" name="Picture 17" descr="TP-LINK_Logo-final_gray30-02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98" y="6329339"/>
            <a:ext cx="1043093" cy="484293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104198" y="129743"/>
            <a:ext cx="10820840" cy="517957"/>
          </a:xfrm>
          <a:prstGeom prst="rect">
            <a:avLst/>
          </a:prstGeom>
          <a:ln>
            <a:noFill/>
          </a:ln>
        </p:spPr>
        <p:txBody>
          <a:bodyPr vert="horz">
            <a:normAutofit/>
          </a:bodyPr>
          <a:lstStyle>
            <a:lvl1pPr algn="l">
              <a:lnSpc>
                <a:spcPct val="90000"/>
              </a:lnSpc>
              <a:defRPr lang="en-US" sz="2667" b="1" i="0" kern="1200" baseline="0" dirty="0">
                <a:solidFill>
                  <a:srgbClr val="4ACBD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marL="0" lvl="0" indent="0" algn="l" defTabSz="3429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421174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C9E9E0-28BD-538D-E550-78750988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4CB18E-08FF-92CF-A60C-7F4FFD0CD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7C1DAE-181F-ED06-4D7B-FA3448BC2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9C260-056F-4109-AD60-4F49D4F36C1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7EC826-2FA0-FE2C-FA1B-434066200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92D7BC-9934-1745-BD9F-BD9B5209E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02554-7369-4721-841E-2ED44FB28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29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0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2010838-A6F1-236A-5033-77DE3055C457}"/>
              </a:ext>
            </a:extLst>
          </p:cNvPr>
          <p:cNvSpPr/>
          <p:nvPr/>
        </p:nvSpPr>
        <p:spPr>
          <a:xfrm>
            <a:off x="7520333" y="-250393"/>
            <a:ext cx="4671667" cy="5707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062D20-8C79-170C-7686-C0C47180ADFE}"/>
              </a:ext>
            </a:extLst>
          </p:cNvPr>
          <p:cNvSpPr/>
          <p:nvPr/>
        </p:nvSpPr>
        <p:spPr>
          <a:xfrm>
            <a:off x="753533" y="3915292"/>
            <a:ext cx="11438467" cy="294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1EEE225-1717-7922-901C-831500004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8" y="2227968"/>
            <a:ext cx="6420951" cy="738664"/>
          </a:xfrm>
        </p:spPr>
        <p:txBody>
          <a:bodyPr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音频算法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NEON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优化</a:t>
            </a:r>
            <a:b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7091E9C-F9CA-A808-A547-D841816FC3B8}"/>
              </a:ext>
            </a:extLst>
          </p:cNvPr>
          <p:cNvGrpSpPr/>
          <p:nvPr/>
        </p:nvGrpSpPr>
        <p:grpSpPr>
          <a:xfrm>
            <a:off x="982663" y="2966632"/>
            <a:ext cx="3265354" cy="948659"/>
            <a:chOff x="920351" y="3474290"/>
            <a:chExt cx="3265354" cy="94865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B6B1D93-E1DB-119E-9C3F-B8B1B4D21F81}"/>
                </a:ext>
              </a:extLst>
            </p:cNvPr>
            <p:cNvSpPr txBox="1"/>
            <p:nvPr/>
          </p:nvSpPr>
          <p:spPr>
            <a:xfrm>
              <a:off x="920351" y="3952159"/>
              <a:ext cx="2831413" cy="4707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汇报人：刘元昊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37E04E2-1BC2-04AE-34FA-E53B169B1B3A}"/>
                </a:ext>
              </a:extLst>
            </p:cNvPr>
            <p:cNvSpPr txBox="1"/>
            <p:nvPr/>
          </p:nvSpPr>
          <p:spPr>
            <a:xfrm>
              <a:off x="920351" y="3474290"/>
              <a:ext cx="326535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新人课题中期汇报</a:t>
              </a:r>
              <a:b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endParaRPr lang="zh-CN" altLang="en-US" dirty="0"/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871BBCA4-9C38-6003-7C13-9F5FC2DB2B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39" t="4116" r="25965" b="8132"/>
          <a:stretch/>
        </p:blipFill>
        <p:spPr>
          <a:xfrm flipH="1">
            <a:off x="982663" y="4653956"/>
            <a:ext cx="1315070" cy="18118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653B934-A5DA-28D4-4350-724731C170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0" r="1419" b="3283"/>
          <a:stretch/>
        </p:blipFill>
        <p:spPr>
          <a:xfrm>
            <a:off x="8423180" y="0"/>
            <a:ext cx="4273291" cy="2374387"/>
          </a:xfrm>
          <a:prstGeom prst="rect">
            <a:avLst/>
          </a:prstGeom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1AB9754-8B7F-8051-1B07-0190780927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77" r="7620" b="6988"/>
          <a:stretch/>
        </p:blipFill>
        <p:spPr>
          <a:xfrm>
            <a:off x="7759961" y="2161440"/>
            <a:ext cx="4273291" cy="2377088"/>
          </a:xfrm>
          <a:prstGeom prst="rect">
            <a:avLst/>
          </a:prstGeom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C06E49E-CAE7-8808-0BCF-86216EB36C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565" b="2061"/>
          <a:stretch/>
        </p:blipFill>
        <p:spPr>
          <a:xfrm>
            <a:off x="6646332" y="4098260"/>
            <a:ext cx="4273291" cy="2732362"/>
          </a:xfrm>
          <a:prstGeom prst="rect">
            <a:avLst/>
          </a:prstGeom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840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" y="0"/>
            <a:ext cx="2051636" cy="6858000"/>
          </a:xfrm>
          <a:prstGeom prst="rect">
            <a:avLst/>
          </a:prstGeom>
          <a:solidFill>
            <a:srgbClr val="4ACBD6"/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Picture 14" descr="whitelogo-03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22" y="5998397"/>
            <a:ext cx="1767840" cy="752247"/>
          </a:xfrm>
          <a:prstGeom prst="rect">
            <a:avLst/>
          </a:prstGeom>
        </p:spPr>
      </p:pic>
      <p:sp>
        <p:nvSpPr>
          <p:cNvPr id="7" name="TextBox 35">
            <a:extLst>
              <a:ext uri="{FF2B5EF4-FFF2-40B4-BE49-F238E27FC236}">
                <a16:creationId xmlns:a16="http://schemas.microsoft.com/office/drawing/2014/main" id="{C3BA1224-329E-4B50-59E0-3AF8696FFAF6}"/>
              </a:ext>
            </a:extLst>
          </p:cNvPr>
          <p:cNvSpPr txBox="1"/>
          <p:nvPr/>
        </p:nvSpPr>
        <p:spPr>
          <a:xfrm>
            <a:off x="671548" y="2459504"/>
            <a:ext cx="7085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目  录</a:t>
            </a:r>
            <a:endParaRPr lang="en-US" altLang="zh-CN" sz="60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圆角矩形 6"/>
          <p:cNvSpPr/>
          <p:nvPr/>
        </p:nvSpPr>
        <p:spPr>
          <a:xfrm>
            <a:off x="2391200" y="1780814"/>
            <a:ext cx="6726630" cy="61223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algn="ctr" defTabSz="71118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4">
            <a:extLst>
              <a:ext uri="{FF2B5EF4-FFF2-40B4-BE49-F238E27FC236}">
                <a16:creationId xmlns:a16="http://schemas.microsoft.com/office/drawing/2014/main" id="{DAA20F25-CBFF-A61A-FBC9-DD6406256B59}"/>
              </a:ext>
            </a:extLst>
          </p:cNvPr>
          <p:cNvSpPr/>
          <p:nvPr/>
        </p:nvSpPr>
        <p:spPr>
          <a:xfrm>
            <a:off x="2399014" y="4169725"/>
            <a:ext cx="6718819" cy="61223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algn="ctr" defTabSz="71118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2435F3C-B4E6-2278-2715-707840ACC500}"/>
              </a:ext>
            </a:extLst>
          </p:cNvPr>
          <p:cNvGrpSpPr/>
          <p:nvPr/>
        </p:nvGrpSpPr>
        <p:grpSpPr>
          <a:xfrm>
            <a:off x="2464175" y="1490910"/>
            <a:ext cx="5959005" cy="678477"/>
            <a:chOff x="2358081" y="1764639"/>
            <a:chExt cx="6800685" cy="678477"/>
          </a:xfrm>
        </p:grpSpPr>
        <p:sp>
          <p:nvSpPr>
            <p:cNvPr id="9" name="圆角矩形 8"/>
            <p:cNvSpPr/>
            <p:nvPr/>
          </p:nvSpPr>
          <p:spPr>
            <a:xfrm>
              <a:off x="2358081" y="1764639"/>
              <a:ext cx="6800685" cy="678477"/>
            </a:xfrm>
            <a:prstGeom prst="roundRect">
              <a:avLst/>
            </a:prstGeom>
            <a:solidFill>
              <a:srgbClr val="4ACBD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圆角矩形 4"/>
            <p:cNvSpPr/>
            <p:nvPr/>
          </p:nvSpPr>
          <p:spPr>
            <a:xfrm>
              <a:off x="2439947" y="1797760"/>
              <a:ext cx="6718819" cy="6122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algn="ctr" defTabSz="71118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课题背景简介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7CB0E8E-6B66-371F-EC17-96D95704429B}"/>
              </a:ext>
            </a:extLst>
          </p:cNvPr>
          <p:cNvGrpSpPr/>
          <p:nvPr/>
        </p:nvGrpSpPr>
        <p:grpSpPr>
          <a:xfrm>
            <a:off x="2464175" y="2269624"/>
            <a:ext cx="5959005" cy="678477"/>
            <a:chOff x="2870483" y="2813401"/>
            <a:chExt cx="5816814" cy="580320"/>
          </a:xfrm>
        </p:grpSpPr>
        <p:sp>
          <p:nvSpPr>
            <p:cNvPr id="30" name="圆角矩形 8">
              <a:extLst>
                <a:ext uri="{FF2B5EF4-FFF2-40B4-BE49-F238E27FC236}">
                  <a16:creationId xmlns:a16="http://schemas.microsoft.com/office/drawing/2014/main" id="{93C69166-643F-19D2-B98A-76E763648F08}"/>
                </a:ext>
              </a:extLst>
            </p:cNvPr>
            <p:cNvSpPr/>
            <p:nvPr/>
          </p:nvSpPr>
          <p:spPr>
            <a:xfrm>
              <a:off x="2870483" y="2813401"/>
              <a:ext cx="5816814" cy="580320"/>
            </a:xfrm>
            <a:prstGeom prst="roundRect">
              <a:avLst/>
            </a:prstGeom>
            <a:solidFill>
              <a:srgbClr val="4ACBD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629BE075-9096-1834-7916-0EC7EF880E95}"/>
                </a:ext>
              </a:extLst>
            </p:cNvPr>
            <p:cNvSpPr/>
            <p:nvPr/>
          </p:nvSpPr>
          <p:spPr>
            <a:xfrm>
              <a:off x="2905494" y="2841730"/>
              <a:ext cx="5746792" cy="5236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algn="ctr" defTabSz="71118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课题中期进度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5F0B705-9B9B-EBB9-1190-14643E98B40A}"/>
              </a:ext>
            </a:extLst>
          </p:cNvPr>
          <p:cNvGrpSpPr/>
          <p:nvPr/>
        </p:nvGrpSpPr>
        <p:grpSpPr>
          <a:xfrm>
            <a:off x="2464175" y="3048339"/>
            <a:ext cx="5959005" cy="678477"/>
            <a:chOff x="2358081" y="3322068"/>
            <a:chExt cx="6800685" cy="678477"/>
          </a:xfrm>
        </p:grpSpPr>
        <p:sp>
          <p:nvSpPr>
            <p:cNvPr id="33" name="圆角矩形 8">
              <a:extLst>
                <a:ext uri="{FF2B5EF4-FFF2-40B4-BE49-F238E27FC236}">
                  <a16:creationId xmlns:a16="http://schemas.microsoft.com/office/drawing/2014/main" id="{02337964-B7A3-68D9-91D0-5452F2CEFF05}"/>
                </a:ext>
              </a:extLst>
            </p:cNvPr>
            <p:cNvSpPr/>
            <p:nvPr/>
          </p:nvSpPr>
          <p:spPr>
            <a:xfrm>
              <a:off x="2358081" y="3322068"/>
              <a:ext cx="6800685" cy="678477"/>
            </a:xfrm>
            <a:prstGeom prst="roundRect">
              <a:avLst/>
            </a:prstGeom>
            <a:solidFill>
              <a:srgbClr val="4ACBD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圆角矩形 4">
              <a:extLst>
                <a:ext uri="{FF2B5EF4-FFF2-40B4-BE49-F238E27FC236}">
                  <a16:creationId xmlns:a16="http://schemas.microsoft.com/office/drawing/2014/main" id="{94089936-154E-E9EB-51CE-6C09339A0734}"/>
                </a:ext>
              </a:extLst>
            </p:cNvPr>
            <p:cNvSpPr/>
            <p:nvPr/>
          </p:nvSpPr>
          <p:spPr>
            <a:xfrm>
              <a:off x="2399014" y="3355188"/>
              <a:ext cx="6718819" cy="6122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algn="ctr" defTabSz="71118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创新点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6651FD0-D548-922E-C5CF-2642D73F89E0}"/>
              </a:ext>
            </a:extLst>
          </p:cNvPr>
          <p:cNvGrpSpPr/>
          <p:nvPr/>
        </p:nvGrpSpPr>
        <p:grpSpPr>
          <a:xfrm>
            <a:off x="2464175" y="3827053"/>
            <a:ext cx="5959005" cy="678477"/>
            <a:chOff x="2358081" y="4100782"/>
            <a:chExt cx="6800685" cy="678477"/>
          </a:xfrm>
        </p:grpSpPr>
        <p:sp>
          <p:nvSpPr>
            <p:cNvPr id="36" name="圆角矩形 8">
              <a:extLst>
                <a:ext uri="{FF2B5EF4-FFF2-40B4-BE49-F238E27FC236}">
                  <a16:creationId xmlns:a16="http://schemas.microsoft.com/office/drawing/2014/main" id="{371414AC-F816-6C7C-B011-AC8003B7C692}"/>
                </a:ext>
              </a:extLst>
            </p:cNvPr>
            <p:cNvSpPr/>
            <p:nvPr/>
          </p:nvSpPr>
          <p:spPr>
            <a:xfrm>
              <a:off x="2358081" y="4100782"/>
              <a:ext cx="6800685" cy="678477"/>
            </a:xfrm>
            <a:prstGeom prst="roundRect">
              <a:avLst/>
            </a:prstGeom>
            <a:solidFill>
              <a:srgbClr val="4ACBD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圆角矩形 4">
              <a:extLst>
                <a:ext uri="{FF2B5EF4-FFF2-40B4-BE49-F238E27FC236}">
                  <a16:creationId xmlns:a16="http://schemas.microsoft.com/office/drawing/2014/main" id="{543B9140-243F-9EB6-A136-0EA618CB818B}"/>
                </a:ext>
              </a:extLst>
            </p:cNvPr>
            <p:cNvSpPr/>
            <p:nvPr/>
          </p:nvSpPr>
          <p:spPr>
            <a:xfrm>
              <a:off x="2399014" y="4133903"/>
              <a:ext cx="6718819" cy="6122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algn="ctr" defTabSz="71118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后续工作方向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7C7F5E5-0780-5876-6A51-48A3179ADD6C}"/>
              </a:ext>
            </a:extLst>
          </p:cNvPr>
          <p:cNvGrpSpPr/>
          <p:nvPr/>
        </p:nvGrpSpPr>
        <p:grpSpPr>
          <a:xfrm>
            <a:off x="2464174" y="4651516"/>
            <a:ext cx="5959005" cy="678477"/>
            <a:chOff x="2358081" y="4100782"/>
            <a:chExt cx="6800685" cy="678477"/>
          </a:xfrm>
        </p:grpSpPr>
        <p:sp>
          <p:nvSpPr>
            <p:cNvPr id="3" name="圆角矩形 8">
              <a:extLst>
                <a:ext uri="{FF2B5EF4-FFF2-40B4-BE49-F238E27FC236}">
                  <a16:creationId xmlns:a16="http://schemas.microsoft.com/office/drawing/2014/main" id="{F014FE2C-CA8C-FA69-6B53-E4BB165DA39E}"/>
                </a:ext>
              </a:extLst>
            </p:cNvPr>
            <p:cNvSpPr/>
            <p:nvPr/>
          </p:nvSpPr>
          <p:spPr>
            <a:xfrm>
              <a:off x="2358081" y="4100782"/>
              <a:ext cx="6800685" cy="678477"/>
            </a:xfrm>
            <a:prstGeom prst="roundRect">
              <a:avLst/>
            </a:prstGeom>
            <a:solidFill>
              <a:srgbClr val="4ACBD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圆角矩形 4">
              <a:extLst>
                <a:ext uri="{FF2B5EF4-FFF2-40B4-BE49-F238E27FC236}">
                  <a16:creationId xmlns:a16="http://schemas.microsoft.com/office/drawing/2014/main" id="{E082A602-0553-32B5-1E67-F18B13509FAE}"/>
                </a:ext>
              </a:extLst>
            </p:cNvPr>
            <p:cNvSpPr/>
            <p:nvPr/>
          </p:nvSpPr>
          <p:spPr>
            <a:xfrm>
              <a:off x="2399014" y="4133903"/>
              <a:ext cx="6718819" cy="6122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algn="ctr" defTabSz="71118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980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8F826D3-B858-1E15-CB7C-67ECDA2BE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39"/>
          <a:stretch/>
        </p:blipFill>
        <p:spPr>
          <a:xfrm>
            <a:off x="4470399" y="526196"/>
            <a:ext cx="7628467" cy="568221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098" y="126371"/>
            <a:ext cx="3912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课题背景简介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F82B1F-49C5-9372-6CDF-1E6D9D44A6B2}"/>
              </a:ext>
            </a:extLst>
          </p:cNvPr>
          <p:cNvSpPr txBox="1"/>
          <p:nvPr/>
        </p:nvSpPr>
        <p:spPr>
          <a:xfrm>
            <a:off x="228600" y="649591"/>
            <a:ext cx="442806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背景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当前音频算法在算法原理上进行过多轮优化，原理上已逼近最优。考虑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NEON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优化，进一步</a:t>
            </a:r>
            <a:r>
              <a:rPr lang="zh-CN" altLang="en-US" sz="2000" b="1" u="sng" dirty="0">
                <a:latin typeface="仿宋" panose="02010609060101010101" pitchFamily="49" charset="-122"/>
                <a:ea typeface="仿宋" panose="02010609060101010101" pitchFamily="49" charset="-122"/>
              </a:rPr>
              <a:t>降低 </a:t>
            </a:r>
            <a:r>
              <a:rPr lang="en-US" altLang="zh-CN" sz="2000" b="1" u="sng" dirty="0">
                <a:latin typeface="仿宋" panose="02010609060101010101" pitchFamily="49" charset="-122"/>
                <a:ea typeface="仿宋" panose="02010609060101010101" pitchFamily="49" charset="-122"/>
              </a:rPr>
              <a:t>CPU </a:t>
            </a:r>
            <a:r>
              <a:rPr lang="zh-CN" altLang="en-US" sz="2000" b="1" u="sng" dirty="0">
                <a:latin typeface="仿宋" panose="02010609060101010101" pitchFamily="49" charset="-122"/>
                <a:ea typeface="仿宋" panose="02010609060101010101" pitchFamily="49" charset="-122"/>
              </a:rPr>
              <a:t>消耗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降低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CPU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消耗有助于应对芯片降本，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CPU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余量可用于新增其他音频功能。    </a:t>
            </a: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概念 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NEON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是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ARM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的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SIMD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（单指令处理多个数据）向量运算单元，能够在</a:t>
            </a:r>
            <a:r>
              <a:rPr lang="zh-CN" altLang="en-US" sz="2000" b="1" u="sng" dirty="0">
                <a:latin typeface="仿宋" panose="02010609060101010101" pitchFamily="49" charset="-122"/>
                <a:ea typeface="仿宋" panose="02010609060101010101" pitchFamily="49" charset="-122"/>
              </a:rPr>
              <a:t>结果不变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的前提下</a:t>
            </a:r>
            <a:r>
              <a:rPr lang="zh-CN" altLang="en-US" sz="2000" b="1" u="sng" dirty="0">
                <a:latin typeface="仿宋" panose="02010609060101010101" pitchFamily="49" charset="-122"/>
                <a:ea typeface="仿宋" panose="02010609060101010101" pitchFamily="49" charset="-122"/>
              </a:rPr>
              <a:t>缩短执行时间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、降低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CPU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消耗。使用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128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位宽寄存器，可以分割成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4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个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float32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使用。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主要优化原理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高效的并行计算实现。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AutoNum type="arabicPeriod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硬件级的专门的浮点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SIMD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单元。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NEON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专门的高速寄存器。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562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5098" y="126371"/>
            <a:ext cx="5760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实机测试结果展示</a:t>
            </a:r>
          </a:p>
        </p:txBody>
      </p:sp>
      <p:pic>
        <p:nvPicPr>
          <p:cNvPr id="31" name="图片 30" descr="屏幕剪辑">
            <a:extLst>
              <a:ext uri="{FF2B5EF4-FFF2-40B4-BE49-F238E27FC236}">
                <a16:creationId xmlns:a16="http://schemas.microsoft.com/office/drawing/2014/main" id="{398DB4A3-0EF4-8741-B753-51CA073EA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85"/>
            <a:ext cx="12192000" cy="720866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8B9DF290-AD76-C027-CC44-54BB5D44B830}"/>
              </a:ext>
            </a:extLst>
          </p:cNvPr>
          <p:cNvSpPr txBox="1"/>
          <p:nvPr/>
        </p:nvSpPr>
        <p:spPr>
          <a:xfrm>
            <a:off x="542925" y="107865"/>
            <a:ext cx="7648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调研 </a:t>
            </a:r>
            <a:r>
              <a:rPr lang="en-US" altLang="zh-CN" sz="2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NEON </a:t>
            </a:r>
            <a:r>
              <a:rPr lang="zh-CN" altLang="en-US" sz="2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的最佳实践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831AD3-69D0-A9A5-0F18-F3875AD0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7" r="2500" b="5845"/>
          <a:stretch/>
        </p:blipFill>
        <p:spPr>
          <a:xfrm>
            <a:off x="0" y="1047511"/>
            <a:ext cx="12192000" cy="547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84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5098" y="126371"/>
            <a:ext cx="5760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实机测试结果展示</a:t>
            </a:r>
          </a:p>
        </p:txBody>
      </p:sp>
      <p:pic>
        <p:nvPicPr>
          <p:cNvPr id="31" name="图片 30" descr="屏幕剪辑">
            <a:extLst>
              <a:ext uri="{FF2B5EF4-FFF2-40B4-BE49-F238E27FC236}">
                <a16:creationId xmlns:a16="http://schemas.microsoft.com/office/drawing/2014/main" id="{398DB4A3-0EF4-8741-B753-51CA073EA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85"/>
            <a:ext cx="12192000" cy="720866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8B9DF290-AD76-C027-CC44-54BB5D44B830}"/>
              </a:ext>
            </a:extLst>
          </p:cNvPr>
          <p:cNvSpPr txBox="1"/>
          <p:nvPr/>
        </p:nvSpPr>
        <p:spPr>
          <a:xfrm>
            <a:off x="542925" y="107865"/>
            <a:ext cx="7648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NEON </a:t>
            </a:r>
            <a:r>
              <a:rPr lang="zh-CN" altLang="en-US" sz="2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指令本地仿真环境 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7DC2467-E91B-E67D-9030-9169D97DA2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2" r="1832" b="5481"/>
          <a:stretch/>
        </p:blipFill>
        <p:spPr>
          <a:xfrm>
            <a:off x="37778" y="1089247"/>
            <a:ext cx="12177864" cy="442303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BC5C474-06DE-3844-38EA-3B8F55BCC853}"/>
              </a:ext>
            </a:extLst>
          </p:cNvPr>
          <p:cNvSpPr txBox="1"/>
          <p:nvPr/>
        </p:nvSpPr>
        <p:spPr>
          <a:xfrm>
            <a:off x="335097" y="5392893"/>
            <a:ext cx="92612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本地仿真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对比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ARM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模拟器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虚拟机方案，</a:t>
            </a:r>
            <a:r>
              <a:rPr lang="en-US" altLang="zh-CN" sz="2000" b="1" u="sng" dirty="0">
                <a:latin typeface="仿宋" panose="02010609060101010101" pitchFamily="49" charset="-122"/>
                <a:ea typeface="仿宋" panose="02010609060101010101" pitchFamily="49" charset="-122"/>
              </a:rPr>
              <a:t>NEON2SSE.h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仿真方案更为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轻量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、易用。</a:t>
            </a:r>
            <a:b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无需修改源码或调整现有工作流，仅需引入一个头文件，即可在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x86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平台上实现跨平台编译与调试，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环境配置简单、稳定。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490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5098" y="126371"/>
            <a:ext cx="5760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实机测试结果展示</a:t>
            </a:r>
          </a:p>
        </p:txBody>
      </p:sp>
      <p:pic>
        <p:nvPicPr>
          <p:cNvPr id="31" name="图片 30" descr="屏幕剪辑">
            <a:extLst>
              <a:ext uri="{FF2B5EF4-FFF2-40B4-BE49-F238E27FC236}">
                <a16:creationId xmlns:a16="http://schemas.microsoft.com/office/drawing/2014/main" id="{398DB4A3-0EF4-8741-B753-51CA073EA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85"/>
            <a:ext cx="12192000" cy="720866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8B9DF290-AD76-C027-CC44-54BB5D44B830}"/>
              </a:ext>
            </a:extLst>
          </p:cNvPr>
          <p:cNvSpPr txBox="1"/>
          <p:nvPr/>
        </p:nvSpPr>
        <p:spPr>
          <a:xfrm>
            <a:off x="542925" y="107865"/>
            <a:ext cx="7648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实机 </a:t>
            </a:r>
            <a:r>
              <a:rPr lang="en-US" altLang="zh-CN" sz="2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NEON </a:t>
            </a:r>
            <a:r>
              <a:rPr lang="zh-CN" altLang="en-US" sz="2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代码开发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39B1E9-31EB-41D2-3EDC-4F607A957F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596"/>
          <a:stretch/>
        </p:blipFill>
        <p:spPr>
          <a:xfrm>
            <a:off x="657547" y="3697999"/>
            <a:ext cx="5116003" cy="26725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901F11-4228-9F77-84ED-451CD9A07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47" y="953780"/>
            <a:ext cx="5116002" cy="23095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3CA6A9E-4B77-F8B4-52E6-676B10B947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79" b="13831"/>
          <a:stretch/>
        </p:blipFill>
        <p:spPr>
          <a:xfrm>
            <a:off x="6872378" y="3750201"/>
            <a:ext cx="4607653" cy="26725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C094F03-67F5-BEB3-4AF8-9C09BD37BBCA}"/>
              </a:ext>
            </a:extLst>
          </p:cNvPr>
          <p:cNvSpPr/>
          <p:nvPr/>
        </p:nvSpPr>
        <p:spPr>
          <a:xfrm>
            <a:off x="9030167" y="4440051"/>
            <a:ext cx="1432549" cy="14479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6242090-E51D-DBE3-64DD-0603527DF4CF}"/>
              </a:ext>
            </a:extLst>
          </p:cNvPr>
          <p:cNvGrpSpPr/>
          <p:nvPr/>
        </p:nvGrpSpPr>
        <p:grpSpPr>
          <a:xfrm>
            <a:off x="7077743" y="953780"/>
            <a:ext cx="4153256" cy="2561608"/>
            <a:chOff x="6872378" y="953780"/>
            <a:chExt cx="4153256" cy="256160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E9CA1FB-6526-C660-9BAA-A2E6B847B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00" r="-1"/>
            <a:stretch/>
          </p:blipFill>
          <p:spPr>
            <a:xfrm>
              <a:off x="6872378" y="953780"/>
              <a:ext cx="4153256" cy="2561608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FD14CFA-45B1-0381-68DC-B461BC5AE57E}"/>
                </a:ext>
              </a:extLst>
            </p:cNvPr>
            <p:cNvSpPr/>
            <p:nvPr/>
          </p:nvSpPr>
          <p:spPr>
            <a:xfrm>
              <a:off x="8618203" y="1403452"/>
              <a:ext cx="1432549" cy="144795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D367A6B-194D-D0EB-1B0C-282248229292}"/>
              </a:ext>
            </a:extLst>
          </p:cNvPr>
          <p:cNvCxnSpPr>
            <a:cxnSpLocks/>
          </p:cNvCxnSpPr>
          <p:nvPr/>
        </p:nvCxnSpPr>
        <p:spPr>
          <a:xfrm>
            <a:off x="1567133" y="2479538"/>
            <a:ext cx="0" cy="2489277"/>
          </a:xfrm>
          <a:prstGeom prst="straightConnector1">
            <a:avLst/>
          </a:prstGeom>
          <a:ln w="63500">
            <a:solidFill>
              <a:srgbClr val="FFFF00">
                <a:alpha val="9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DA71A51-24C3-DA52-18C1-530E39EA8B93}"/>
              </a:ext>
            </a:extLst>
          </p:cNvPr>
          <p:cNvSpPr/>
          <p:nvPr/>
        </p:nvSpPr>
        <p:spPr>
          <a:xfrm>
            <a:off x="961001" y="2251344"/>
            <a:ext cx="2135882" cy="18993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73E325-7257-81EA-7268-453A78A70A4F}"/>
              </a:ext>
            </a:extLst>
          </p:cNvPr>
          <p:cNvSpPr/>
          <p:nvPr/>
        </p:nvSpPr>
        <p:spPr>
          <a:xfrm>
            <a:off x="1030605" y="4968815"/>
            <a:ext cx="1790233" cy="19840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0DA8FE3-1525-3EEF-1EA9-8102A574535D}"/>
              </a:ext>
            </a:extLst>
          </p:cNvPr>
          <p:cNvCxnSpPr>
            <a:cxnSpLocks/>
          </p:cNvCxnSpPr>
          <p:nvPr/>
        </p:nvCxnSpPr>
        <p:spPr>
          <a:xfrm>
            <a:off x="9539842" y="1548247"/>
            <a:ext cx="36872" cy="2867323"/>
          </a:xfrm>
          <a:prstGeom prst="straightConnector1">
            <a:avLst/>
          </a:prstGeom>
          <a:ln w="63500">
            <a:solidFill>
              <a:srgbClr val="FFFF00">
                <a:alpha val="9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00242FC-4943-22F9-EF99-AA63EE0D9CE7}"/>
              </a:ext>
            </a:extLst>
          </p:cNvPr>
          <p:cNvSpPr txBox="1"/>
          <p:nvPr/>
        </p:nvSpPr>
        <p:spPr>
          <a:xfrm>
            <a:off x="1099568" y="6423233"/>
            <a:ext cx="4231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代码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NEON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优化（部分）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D0D210D-F754-F47E-55FF-58D7BEF61C63}"/>
              </a:ext>
            </a:extLst>
          </p:cNvPr>
          <p:cNvSpPr txBox="1"/>
          <p:nvPr/>
        </p:nvSpPr>
        <p:spPr>
          <a:xfrm>
            <a:off x="7060224" y="6488310"/>
            <a:ext cx="4231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C225v2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双讲优化 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CPU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占用（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top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命令）</a:t>
            </a:r>
          </a:p>
        </p:txBody>
      </p:sp>
    </p:spTree>
    <p:extLst>
      <p:ext uri="{BB962C8B-B14F-4D97-AF65-F5344CB8AC3E}">
        <p14:creationId xmlns:p14="http://schemas.microsoft.com/office/powerpoint/2010/main" val="372743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5098" y="126371"/>
            <a:ext cx="5760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课题完成进度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整体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60%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F82B1F-49C5-9372-6CDF-1E6D9D44A6B2}"/>
              </a:ext>
            </a:extLst>
          </p:cNvPr>
          <p:cNvSpPr txBox="1"/>
          <p:nvPr/>
        </p:nvSpPr>
        <p:spPr>
          <a:xfrm>
            <a:off x="335098" y="649591"/>
            <a:ext cx="482956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一、调研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NEON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的最佳实践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en-US" altLang="zh-CN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Done</a:t>
            </a: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选用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Ne10-FFT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替换已有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FFT</a:t>
            </a: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选用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Intrinsics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实现热点代码 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·NEON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汇编实现难以维护，不考虑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NEON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指令本地仿真环境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en-US" altLang="zh-CN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Done</a:t>
            </a: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编译命令添加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-msse4.1 -DUSE_SSE4</a:t>
            </a: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添加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NEON_2_SSE.h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支持本地仿真，模拟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NEON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内在函数的行为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三、代码热点摸排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en-US" altLang="zh-CN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50%</a:t>
            </a: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目前仅摸排 </a:t>
            </a:r>
            <a:r>
              <a:rPr lang="en-US" altLang="zh-CN" sz="2000" dirty="0" err="1">
                <a:latin typeface="仿宋" panose="02010609060101010101" pitchFamily="49" charset="-122"/>
                <a:ea typeface="仿宋" panose="02010609060101010101" pitchFamily="49" charset="-122"/>
              </a:rPr>
              <a:t>mdf.c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部分函数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– 50%</a:t>
            </a: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先验选择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FFT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、向量内积等热点代码块进行优化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– 80%</a:t>
            </a: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四、实机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NEON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代码开发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en-US" altLang="zh-CN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50%</a:t>
            </a: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·RTF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模块开发进度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– 90%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·Ne10-FFT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开发进度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- Done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回声消除优化开发进度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– 50%</a:t>
            </a: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五、实机测试运行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– </a:t>
            </a:r>
            <a:r>
              <a:rPr lang="en-US" altLang="zh-CN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30%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·C225v2(ARMv7)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测试上述代码，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dump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结果一致，双讲</a:t>
            </a:r>
            <a:r>
              <a:rPr lang="en-US" altLang="zh-CN" sz="2000" dirty="0" err="1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占用降低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20%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17610DE-26EE-9504-8512-B66E0D093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55" r="2556"/>
          <a:stretch/>
        </p:blipFill>
        <p:spPr>
          <a:xfrm>
            <a:off x="6769433" y="126371"/>
            <a:ext cx="4472478" cy="23583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30F722D-2A07-97B6-1E37-C047F5F9C809}"/>
              </a:ext>
            </a:extLst>
          </p:cNvPr>
          <p:cNvSpPr txBox="1"/>
          <p:nvPr/>
        </p:nvSpPr>
        <p:spPr>
          <a:xfrm>
            <a:off x="6303813" y="2459970"/>
            <a:ext cx="5517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RTF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模块计时，对比不同的 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SIMD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实现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153A51-4A11-2E9B-5248-96626E717E59}"/>
              </a:ext>
            </a:extLst>
          </p:cNvPr>
          <p:cNvSpPr txBox="1"/>
          <p:nvPr/>
        </p:nvSpPr>
        <p:spPr>
          <a:xfrm>
            <a:off x="6189714" y="6519446"/>
            <a:ext cx="56319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采样点反相相消结果，计算误差小于浮点运算误差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1E1E620-E720-1FBA-914B-2AD3D27A6281}"/>
              </a:ext>
            </a:extLst>
          </p:cNvPr>
          <p:cNvGrpSpPr/>
          <p:nvPr/>
        </p:nvGrpSpPr>
        <p:grpSpPr>
          <a:xfrm>
            <a:off x="6189714" y="3018814"/>
            <a:ext cx="5631917" cy="3493494"/>
            <a:chOff x="6189714" y="3018814"/>
            <a:chExt cx="5631917" cy="3493494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4C49EF2A-7280-4648-11B8-27A63105A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9722"/>
            <a:stretch/>
          </p:blipFill>
          <p:spPr>
            <a:xfrm>
              <a:off x="6189714" y="3018814"/>
              <a:ext cx="5631917" cy="349349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D5ABE7F-8168-4D7A-B32A-07C4AB3C4F14}"/>
                </a:ext>
              </a:extLst>
            </p:cNvPr>
            <p:cNvSpPr/>
            <p:nvPr/>
          </p:nvSpPr>
          <p:spPr>
            <a:xfrm>
              <a:off x="8731384" y="5565461"/>
              <a:ext cx="1639909" cy="684603"/>
            </a:xfrm>
            <a:prstGeom prst="rect">
              <a:avLst/>
            </a:prstGeom>
            <a:noFill/>
            <a:ln w="76200">
              <a:solidFill>
                <a:srgbClr val="FFFF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D426D877-D014-081B-7FC9-AAB6644690A0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flipV="1">
              <a:off x="9551339" y="4389150"/>
              <a:ext cx="730332" cy="1176311"/>
            </a:xfrm>
            <a:prstGeom prst="straightConnector1">
              <a:avLst/>
            </a:prstGeom>
            <a:ln w="127000">
              <a:solidFill>
                <a:srgbClr val="FFFF00">
                  <a:alpha val="90000"/>
                </a:srgb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812AA86D-484D-5B15-3BEC-8EC3FC4F89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708" t="39269" b="17067"/>
          <a:stretch/>
        </p:blipFill>
        <p:spPr>
          <a:xfrm>
            <a:off x="8703634" y="2932884"/>
            <a:ext cx="3488366" cy="14562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7000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6E0999E1-B1F1-6ADF-BA44-351A6E0B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312"/>
          <a:stretch/>
        </p:blipFill>
        <p:spPr>
          <a:xfrm>
            <a:off x="6544723" y="1129766"/>
            <a:ext cx="3819277" cy="2554612"/>
          </a:xfrm>
          <a:prstGeom prst="rect">
            <a:avLst/>
          </a:prstGeom>
          <a:ln>
            <a:noFill/>
          </a:ln>
          <a:effectLst>
            <a:outerShdw blurRad="292100" dist="2413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85"/>
            <a:ext cx="12192000" cy="72086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42926" y="107865"/>
            <a:ext cx="3912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创新点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ADDCCA-39A3-0E6C-B425-0C883F09328C}"/>
              </a:ext>
            </a:extLst>
          </p:cNvPr>
          <p:cNvSpPr txBox="1"/>
          <p:nvPr/>
        </p:nvSpPr>
        <p:spPr>
          <a:xfrm>
            <a:off x="452131" y="828731"/>
            <a:ext cx="4664073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音频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NEON</a:t>
            </a: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1.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音频处理中的复杂度非常集中，主要集中在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FFT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、自适应滤波、向量内积，且运算非常对称，并行条件好。</a:t>
            </a: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2.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实机验证了多个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for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NEON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实现效果较差。分析原因是</a:t>
            </a:r>
            <a:r>
              <a:rPr lang="zh-CN" altLang="en-US" sz="2000" b="1" u="sng" dirty="0">
                <a:latin typeface="仿宋" panose="02010609060101010101" pitchFamily="49" charset="-122"/>
                <a:ea typeface="仿宋" panose="02010609060101010101" pitchFamily="49" charset="-122"/>
              </a:rPr>
              <a:t>循环分支开销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成为瓶颈。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3.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在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C225v2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实机得到了一组明确的算子优化系数，如右下图。由表可以近似计算各代码块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NEON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优化的预期收益。（统计其中各算子占比，并对优化系数加权求和） 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4.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 据此分析了</a:t>
            </a:r>
            <a:r>
              <a:rPr lang="zh-CN" altLang="en-US" sz="2000" b="1" u="sng" dirty="0">
                <a:latin typeface="仿宋" panose="02010609060101010101" pitchFamily="49" charset="-122"/>
                <a:ea typeface="仿宋" panose="02010609060101010101" pitchFamily="49" charset="-122"/>
              </a:rPr>
              <a:t>浮点转定点运算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明确无法带来优化。即使考虑逆元优化除法。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基于宏定义的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rtf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模块实现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支持多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feature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，包括代码块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函数计时，隔点计时、多点平均、平滑、变化幅度统计、高精度时间、自定义配置。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714550D-16AF-B528-A131-B07F46961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668174"/>
              </p:ext>
            </p:extLst>
          </p:nvPr>
        </p:nvGraphicFramePr>
        <p:xfrm>
          <a:off x="5875202" y="4094428"/>
          <a:ext cx="5981700" cy="2286000"/>
        </p:xfrm>
        <a:graphic>
          <a:graphicData uri="http://schemas.openxmlformats.org/drawingml/2006/table">
            <a:tbl>
              <a:tblPr/>
              <a:tblGrid>
                <a:gridCol w="1612900">
                  <a:extLst>
                    <a:ext uri="{9D8B030D-6E8A-4147-A177-3AD203B41FA5}">
                      <a16:colId xmlns:a16="http://schemas.microsoft.com/office/drawing/2014/main" val="3163539147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371417365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995922634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3805649839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17163685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c225v2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NEON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C</a:t>
                      </a:r>
                      <a:r>
                        <a:rPr lang="zh-CN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实现耗时</a:t>
                      </a:r>
                      <a:endParaRPr lang="zh-CN" alt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优化系数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简介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76892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vld1q_f32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98.5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sng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2.517↑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加载到向量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14856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vmulq_f32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0.605↓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向量乘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60903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vaddq_f32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0.601↓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向量加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6396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vminq_f32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179.5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0.738↓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向量取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85899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vmlaq_f32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328.5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sng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0.499↓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向量乘加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4273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vst1q_f32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sng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1.545↑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从向量保存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37675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vdupq_n_f32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0.816↓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从标量复制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05059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8951A477-6ECA-8405-B677-DA017CF7DEEF}"/>
              </a:ext>
            </a:extLst>
          </p:cNvPr>
          <p:cNvSpPr txBox="1"/>
          <p:nvPr/>
        </p:nvSpPr>
        <p:spPr>
          <a:xfrm>
            <a:off x="6096000" y="6380428"/>
            <a:ext cx="56319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NEON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各命令优化系数表（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NEON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耗时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÷C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实现耗时）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1B83561-D217-23A9-0E15-D92E015852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692" b="59944"/>
          <a:stretch/>
        </p:blipFill>
        <p:spPr>
          <a:xfrm>
            <a:off x="6544723" y="738430"/>
            <a:ext cx="3819277" cy="335941"/>
          </a:xfrm>
          <a:prstGeom prst="rect">
            <a:avLst/>
          </a:prstGeom>
          <a:ln>
            <a:noFill/>
          </a:ln>
          <a:effectLst>
            <a:outerShdw blurRad="292100" dist="2413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E38A94B-47AD-1864-705C-FE1ED4B31DB7}"/>
              </a:ext>
            </a:extLst>
          </p:cNvPr>
          <p:cNvSpPr txBox="1"/>
          <p:nvPr/>
        </p:nvSpPr>
        <p:spPr>
          <a:xfrm>
            <a:off x="6544722" y="3681836"/>
            <a:ext cx="3819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RTF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快速应用到代码块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358881D-0305-BA9E-7314-E3323B9288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649" t="58401" r="19368" b="30487"/>
          <a:stretch/>
        </p:blipFill>
        <p:spPr>
          <a:xfrm>
            <a:off x="7782918" y="2439983"/>
            <a:ext cx="4503846" cy="759358"/>
          </a:xfrm>
          <a:prstGeom prst="rect">
            <a:avLst/>
          </a:prstGeom>
          <a:ln>
            <a:noFill/>
          </a:ln>
          <a:effectLst>
            <a:outerShdw blurRad="292100" dist="2413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B290209-35BA-9263-6509-991C294EBF53}"/>
              </a:ext>
            </a:extLst>
          </p:cNvPr>
          <p:cNvSpPr/>
          <p:nvPr/>
        </p:nvSpPr>
        <p:spPr>
          <a:xfrm>
            <a:off x="6544723" y="1141287"/>
            <a:ext cx="3420544" cy="25820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930EA06-A2EB-13B7-74C3-AA983F4748B0}"/>
              </a:ext>
            </a:extLst>
          </p:cNvPr>
          <p:cNvCxnSpPr>
            <a:cxnSpLocks/>
          </p:cNvCxnSpPr>
          <p:nvPr/>
        </p:nvCxnSpPr>
        <p:spPr>
          <a:xfrm>
            <a:off x="7069669" y="1399496"/>
            <a:ext cx="1506381" cy="1523704"/>
          </a:xfrm>
          <a:prstGeom prst="straightConnector1">
            <a:avLst/>
          </a:prstGeom>
          <a:ln w="63500">
            <a:solidFill>
              <a:srgbClr val="FFFF00">
                <a:alpha val="9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DF24B156-06BC-8F6D-0062-F66A42990E2F}"/>
              </a:ext>
            </a:extLst>
          </p:cNvPr>
          <p:cNvSpPr/>
          <p:nvPr/>
        </p:nvSpPr>
        <p:spPr>
          <a:xfrm>
            <a:off x="8029503" y="2947681"/>
            <a:ext cx="1432549" cy="14479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474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85"/>
            <a:ext cx="12192000" cy="72086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42926" y="107865"/>
            <a:ext cx="3912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后续工作方向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4E3D1B5-4A6D-2153-5F8D-3156197DF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740699"/>
              </p:ext>
            </p:extLst>
          </p:nvPr>
        </p:nvGraphicFramePr>
        <p:xfrm>
          <a:off x="542926" y="1250669"/>
          <a:ext cx="11101532" cy="4668867"/>
        </p:xfrm>
        <a:graphic>
          <a:graphicData uri="http://schemas.openxmlformats.org/drawingml/2006/table">
            <a:tbl>
              <a:tblPr/>
              <a:tblGrid>
                <a:gridCol w="5550766">
                  <a:extLst>
                    <a:ext uri="{9D8B030D-6E8A-4147-A177-3AD203B41FA5}">
                      <a16:colId xmlns:a16="http://schemas.microsoft.com/office/drawing/2014/main" val="4159881686"/>
                    </a:ext>
                  </a:extLst>
                </a:gridCol>
                <a:gridCol w="5550766">
                  <a:extLst>
                    <a:ext uri="{9D8B030D-6E8A-4147-A177-3AD203B41FA5}">
                      <a16:colId xmlns:a16="http://schemas.microsoft.com/office/drawing/2014/main" val="1437939127"/>
                    </a:ext>
                  </a:extLst>
                </a:gridCol>
              </a:tblGrid>
              <a:tr h="51876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3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观察到</a:t>
                      </a: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3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优化思路</a:t>
                      </a: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628982"/>
                  </a:ext>
                </a:extLst>
              </a:tr>
              <a:tr h="5187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vdiv</a:t>
                      </a:r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命令在 </a:t>
                      </a:r>
                      <a:r>
                        <a:rPr lang="en-US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armv7</a:t>
                      </a:r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不支持 </a:t>
                      </a: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3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vrecpeq</a:t>
                      </a:r>
                      <a:r>
                        <a:rPr lang="zh-CN" alt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求倒数</a:t>
                      </a:r>
                      <a:r>
                        <a:rPr lang="en-US" altLang="zh-CN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</a:t>
                      </a:r>
                      <a:r>
                        <a:rPr lang="zh-CN" alt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牛顿迭代法</a:t>
                      </a: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147754"/>
                  </a:ext>
                </a:extLst>
              </a:tr>
              <a:tr h="10375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for</a:t>
                      </a:r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循环分支开销大</a:t>
                      </a:r>
                      <a:b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3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vld</a:t>
                      </a:r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和 </a:t>
                      </a:r>
                      <a:r>
                        <a:rPr lang="en-US" sz="3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vst</a:t>
                      </a:r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是算子性能瓶颈</a:t>
                      </a: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循环展开</a:t>
                      </a:r>
                      <a:r>
                        <a:rPr lang="en-US" altLang="zh-C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</a:t>
                      </a: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软件流水线</a:t>
                      </a:r>
                      <a:b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提高硬件单元的吞吐率</a:t>
                      </a: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384037"/>
                  </a:ext>
                </a:extLst>
              </a:tr>
              <a:tr h="10375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算子耗时                                </a:t>
                      </a: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vmla</a:t>
                      </a: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＝</a:t>
                      </a: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vmul</a:t>
                      </a: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&lt; </a:t>
                      </a: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vmul</a:t>
                      </a: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</a:t>
                      </a: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vadd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NEON</a:t>
                      </a:r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乘加融合</a:t>
                      </a: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34611"/>
                  </a:ext>
                </a:extLst>
              </a:tr>
              <a:tr h="51876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目前仅优化回声消除</a:t>
                      </a: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扩大范围摸排代码</a:t>
                      </a: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505951"/>
                  </a:ext>
                </a:extLst>
              </a:tr>
              <a:tr h="10375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vld</a:t>
                      </a: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和 </a:t>
                      </a: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vst</a:t>
                      </a: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耗时长</a:t>
                      </a: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优化 </a:t>
                      </a:r>
                      <a:r>
                        <a:rPr lang="en-US" altLang="zh-C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AEC</a:t>
                      </a:r>
                      <a:r>
                        <a:rPr lang="en-US" altLang="zh-C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代码结构</a:t>
                      </a:r>
                      <a:b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减少中间变量的 </a:t>
                      </a:r>
                      <a:r>
                        <a:rPr lang="en-US" altLang="zh-CN" sz="3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vld</a:t>
                      </a:r>
                      <a:r>
                        <a:rPr lang="zh-CN" alt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和 </a:t>
                      </a:r>
                      <a:r>
                        <a:rPr lang="en-US" altLang="zh-CN" sz="3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vst</a:t>
                      </a:r>
                      <a:endParaRPr lang="zh-CN" alt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2968" marR="12968" marT="129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32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497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06975"/>
          </a:xfrm>
          <a:prstGeom prst="rect">
            <a:avLst/>
          </a:prstGeom>
        </p:spPr>
      </p:pic>
      <p:pic>
        <p:nvPicPr>
          <p:cNvPr id="11" name="图片 10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3699"/>
            <a:ext cx="12192000" cy="352376"/>
          </a:xfrm>
          <a:prstGeom prst="rect">
            <a:avLst/>
          </a:prstGeom>
        </p:spPr>
      </p:pic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252" y="117421"/>
            <a:ext cx="2827748" cy="2036286"/>
          </a:xfrm>
          <a:prstGeom prst="rect">
            <a:avLst/>
          </a:prstGeom>
        </p:spPr>
      </p:pic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38" y="5924915"/>
            <a:ext cx="1828815" cy="83756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43319" y="2710185"/>
            <a:ext cx="6214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</a:rPr>
              <a:t>THANKS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295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2406</TotalTime>
  <Words>1375</Words>
  <Application>Microsoft Office PowerPoint</Application>
  <PresentationFormat>宽屏</PresentationFormat>
  <Paragraphs>170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-apple-system</vt:lpstr>
      <vt:lpstr>ＭＳ Ｐゴシック</vt:lpstr>
      <vt:lpstr>等线</vt:lpstr>
      <vt:lpstr>等线 Light</vt:lpstr>
      <vt:lpstr>仿宋</vt:lpstr>
      <vt:lpstr>黑体</vt:lpstr>
      <vt:lpstr>华文楷体</vt:lpstr>
      <vt:lpstr>微软雅黑</vt:lpstr>
      <vt:lpstr>Arial</vt:lpstr>
      <vt:lpstr>Times New Roman</vt:lpstr>
      <vt:lpstr>Office 主题​​</vt:lpstr>
      <vt:lpstr>音频算法 NEON 优化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Yuanhao Liu</dc:creator>
  <cp:lastModifiedBy>Yuanhao Liu</cp:lastModifiedBy>
  <cp:revision>261</cp:revision>
  <dcterms:created xsi:type="dcterms:W3CDTF">2025-08-23T07:39:29Z</dcterms:created>
  <dcterms:modified xsi:type="dcterms:W3CDTF">2025-09-29T05:21:42Z</dcterms:modified>
</cp:coreProperties>
</file>